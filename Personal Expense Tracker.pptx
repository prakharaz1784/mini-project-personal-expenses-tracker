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01850" y="2207526"/>
            <a:ext cx="8073390" cy="89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F172A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F172A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F172A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F172A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425" y="388785"/>
            <a:ext cx="3617053" cy="496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F172A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2654300"/>
            <a:ext cx="11280775" cy="2304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Relationship Id="rId4" Type="http://schemas.openxmlformats.org/officeDocument/2006/relationships/image" Target="../media/image56.png"/><Relationship Id="rId5" Type="http://schemas.openxmlformats.org/officeDocument/2006/relationships/image" Target="../media/image58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4478" y="1727667"/>
            <a:ext cx="2903042" cy="468670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700" spc="-390" b="1">
                <a:latin typeface="Arial"/>
                <a:cs typeface="Arial"/>
              </a:rPr>
              <a:t>Personal</a:t>
            </a:r>
            <a:r>
              <a:rPr dirty="0" sz="5700" spc="-155" b="1">
                <a:latin typeface="Arial"/>
                <a:cs typeface="Arial"/>
              </a:rPr>
              <a:t> </a:t>
            </a:r>
            <a:r>
              <a:rPr dirty="0" sz="5700" spc="-495" b="1">
                <a:latin typeface="Arial"/>
                <a:cs typeface="Arial"/>
              </a:rPr>
              <a:t>Expense</a:t>
            </a:r>
            <a:r>
              <a:rPr dirty="0" sz="5700" spc="-155" b="1">
                <a:latin typeface="Arial"/>
                <a:cs typeface="Arial"/>
              </a:rPr>
              <a:t> </a:t>
            </a:r>
            <a:r>
              <a:rPr dirty="0" sz="5700" spc="-800" b="1">
                <a:solidFill>
                  <a:srgbClr val="FF3366"/>
                </a:solidFill>
                <a:latin typeface="Arial"/>
                <a:cs typeface="Arial"/>
              </a:rPr>
              <a:t>T</a:t>
            </a:r>
            <a:r>
              <a:rPr dirty="0" sz="5700" spc="-60" b="1">
                <a:solidFill>
                  <a:srgbClr val="FF3366"/>
                </a:solidFill>
                <a:latin typeface="Arial"/>
                <a:cs typeface="Arial"/>
              </a:rPr>
              <a:t>r</a:t>
            </a:r>
            <a:r>
              <a:rPr dirty="0" sz="5700" spc="35" b="1">
                <a:solidFill>
                  <a:srgbClr val="FF3366"/>
                </a:solidFill>
                <a:latin typeface="Arial"/>
                <a:cs typeface="Arial"/>
              </a:rPr>
              <a:t>a</a:t>
            </a:r>
            <a:r>
              <a:rPr dirty="0" sz="5700" spc="20" b="1">
                <a:solidFill>
                  <a:srgbClr val="FF3366"/>
                </a:solidFill>
                <a:latin typeface="Arial"/>
                <a:cs typeface="Arial"/>
              </a:rPr>
              <a:t>c</a:t>
            </a:r>
            <a:r>
              <a:rPr dirty="0" sz="5700" spc="-75" b="1">
                <a:solidFill>
                  <a:srgbClr val="FF3366"/>
                </a:solidFill>
                <a:latin typeface="Arial"/>
                <a:cs typeface="Arial"/>
              </a:rPr>
              <a:t>k</a:t>
            </a:r>
            <a:r>
              <a:rPr dirty="0" sz="5700" spc="-20" b="1">
                <a:solidFill>
                  <a:srgbClr val="FF3366"/>
                </a:solidFill>
                <a:latin typeface="Arial"/>
                <a:cs typeface="Arial"/>
              </a:rPr>
              <a:t>e</a:t>
            </a:r>
            <a:r>
              <a:rPr dirty="0" sz="5700" spc="-215" b="1">
                <a:solidFill>
                  <a:srgbClr val="FF3366"/>
                </a:solidFill>
                <a:latin typeface="Arial"/>
                <a:cs typeface="Arial"/>
              </a:rPr>
              <a:t>r</a:t>
            </a:r>
            <a:endParaRPr sz="57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4151" y="2309126"/>
            <a:ext cx="723900" cy="723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51899" y="4047642"/>
            <a:ext cx="648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475569"/>
                </a:solidFill>
                <a:latin typeface="Courier New"/>
                <a:cs typeface="Courier New"/>
              </a:rPr>
              <a:t>Stop</a:t>
            </a:r>
            <a:r>
              <a:rPr dirty="0" sz="1600" spc="-45">
                <a:solidFill>
                  <a:srgbClr val="47556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475569"/>
                </a:solidFill>
                <a:latin typeface="Courier New"/>
                <a:cs typeface="Courier New"/>
              </a:rPr>
              <a:t>Asking</a:t>
            </a:r>
            <a:r>
              <a:rPr dirty="0" sz="1600" spc="-40">
                <a:solidFill>
                  <a:srgbClr val="47556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475569"/>
                </a:solidFill>
                <a:latin typeface="Courier New"/>
                <a:cs typeface="Courier New"/>
              </a:rPr>
              <a:t>"Where</a:t>
            </a:r>
            <a:r>
              <a:rPr dirty="0" sz="1600" spc="-45">
                <a:solidFill>
                  <a:srgbClr val="47556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475569"/>
                </a:solidFill>
                <a:latin typeface="Courier New"/>
                <a:cs typeface="Courier New"/>
              </a:rPr>
              <a:t>Did</a:t>
            </a:r>
            <a:r>
              <a:rPr dirty="0" sz="1600" spc="-40">
                <a:solidFill>
                  <a:srgbClr val="47556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475569"/>
                </a:solidFill>
                <a:latin typeface="Courier New"/>
                <a:cs typeface="Courier New"/>
              </a:rPr>
              <a:t>My</a:t>
            </a:r>
            <a:r>
              <a:rPr dirty="0" sz="1600" spc="-40">
                <a:solidFill>
                  <a:srgbClr val="47556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475569"/>
                </a:solidFill>
                <a:latin typeface="Courier New"/>
                <a:cs typeface="Courier New"/>
              </a:rPr>
              <a:t>Money</a:t>
            </a:r>
            <a:r>
              <a:rPr dirty="0" sz="1600" spc="-45">
                <a:solidFill>
                  <a:srgbClr val="47556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475569"/>
                </a:solidFill>
                <a:latin typeface="Courier New"/>
                <a:cs typeface="Courier New"/>
              </a:rPr>
              <a:t>Go?"</a:t>
            </a:r>
            <a:r>
              <a:rPr dirty="0" sz="1600" spc="-40">
                <a:solidFill>
                  <a:srgbClr val="47556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475569"/>
                </a:solidFill>
                <a:latin typeface="Courier New"/>
                <a:cs typeface="Courier New"/>
              </a:rPr>
              <a:t>Every</a:t>
            </a:r>
            <a:r>
              <a:rPr dirty="0" sz="1600" spc="-40">
                <a:solidFill>
                  <a:srgbClr val="47556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475569"/>
                </a:solidFill>
                <a:latin typeface="Courier New"/>
                <a:cs typeface="Courier New"/>
              </a:rPr>
              <a:t>Month-</a:t>
            </a:r>
            <a:r>
              <a:rPr dirty="0" sz="1600" spc="-20">
                <a:solidFill>
                  <a:srgbClr val="475569"/>
                </a:solidFill>
                <a:latin typeface="Courier New"/>
                <a:cs typeface="Courier New"/>
              </a:rPr>
              <a:t>End!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62450" y="4785904"/>
            <a:ext cx="190500" cy="1434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91696" y="4635550"/>
            <a:ext cx="1798320" cy="416559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408940" marR="5080" indent="-396875">
              <a:lnSpc>
                <a:spcPts val="1000"/>
              </a:lnSpc>
              <a:spcBef>
                <a:spcPts val="200"/>
              </a:spcBef>
            </a:pPr>
            <a:r>
              <a:rPr dirty="0" sz="900" spc="-60" b="1">
                <a:latin typeface="Arial"/>
                <a:cs typeface="Arial"/>
              </a:rPr>
              <a:t>Presented</a:t>
            </a:r>
            <a:r>
              <a:rPr dirty="0" sz="900" b="1">
                <a:latin typeface="Arial"/>
                <a:cs typeface="Arial"/>
              </a:rPr>
              <a:t> </a:t>
            </a:r>
            <a:r>
              <a:rPr dirty="0" sz="900" spc="-65" b="1">
                <a:latin typeface="Arial"/>
                <a:cs typeface="Arial"/>
              </a:rPr>
              <a:t>by:</a:t>
            </a:r>
            <a:r>
              <a:rPr dirty="0" sz="900" b="1">
                <a:latin typeface="Arial"/>
                <a:cs typeface="Arial"/>
              </a:rPr>
              <a:t> </a:t>
            </a:r>
            <a:r>
              <a:rPr dirty="0" sz="900" spc="-25" b="1">
                <a:latin typeface="Arial"/>
                <a:cs typeface="Arial"/>
              </a:rPr>
              <a:t>Prakhar</a:t>
            </a:r>
            <a:r>
              <a:rPr dirty="0" sz="900" b="1">
                <a:latin typeface="Arial"/>
                <a:cs typeface="Arial"/>
              </a:rPr>
              <a:t> </a:t>
            </a:r>
            <a:r>
              <a:rPr dirty="0" sz="900" spc="-55" b="1">
                <a:latin typeface="Arial"/>
                <a:cs typeface="Arial"/>
              </a:rPr>
              <a:t>Kumar</a:t>
            </a:r>
            <a:r>
              <a:rPr dirty="0" sz="900" b="1">
                <a:latin typeface="Arial"/>
                <a:cs typeface="Arial"/>
              </a:rPr>
              <a:t> </a:t>
            </a:r>
            <a:r>
              <a:rPr dirty="0" sz="900" spc="-65" b="1">
                <a:latin typeface="Arial"/>
                <a:cs typeface="Arial"/>
              </a:rPr>
              <a:t>Singh</a:t>
            </a:r>
            <a:r>
              <a:rPr dirty="0" sz="900" spc="-25" b="1">
                <a:latin typeface="Arial"/>
                <a:cs typeface="Arial"/>
              </a:rPr>
              <a:t> Prakhar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Srivastava</a:t>
            </a:r>
            <a:endParaRPr sz="900">
              <a:latin typeface="Arial"/>
              <a:cs typeface="Arial"/>
            </a:endParaRPr>
          </a:p>
          <a:p>
            <a:pPr marL="62865">
              <a:lnSpc>
                <a:spcPts val="980"/>
              </a:lnSpc>
            </a:pPr>
            <a:r>
              <a:rPr dirty="0" sz="900" spc="-45" b="1">
                <a:latin typeface="Arial"/>
                <a:cs typeface="Arial"/>
              </a:rPr>
              <a:t>Prakash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spc="-60" b="1">
                <a:latin typeface="Arial"/>
                <a:cs typeface="Arial"/>
              </a:rPr>
              <a:t>Yadav</a:t>
            </a:r>
            <a:r>
              <a:rPr dirty="0" sz="900" b="1">
                <a:latin typeface="Arial"/>
                <a:cs typeface="Arial"/>
              </a:rPr>
              <a:t> </a:t>
            </a:r>
            <a:r>
              <a:rPr dirty="0" sz="900" spc="-70" b="1">
                <a:latin typeface="Arial"/>
                <a:cs typeface="Arial"/>
              </a:rPr>
              <a:t>|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spc="-85" b="1">
                <a:latin typeface="Arial"/>
                <a:cs typeface="Arial"/>
              </a:rPr>
              <a:t>CSIT</a:t>
            </a:r>
            <a:r>
              <a:rPr dirty="0" sz="90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Department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dirty="0" spc="-114" b="1">
                <a:latin typeface="Arial"/>
                <a:cs typeface="Arial"/>
              </a:rPr>
              <a:t>Introduction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spc="-285" b="1">
                <a:latin typeface="Arial"/>
                <a:cs typeface="Arial"/>
              </a:rPr>
              <a:t>&amp;</a:t>
            </a:r>
            <a:r>
              <a:rPr dirty="0" spc="40" b="1">
                <a:latin typeface="Arial"/>
                <a:cs typeface="Arial"/>
              </a:rPr>
              <a:t> </a:t>
            </a:r>
            <a:r>
              <a:rPr dirty="0" spc="-10" i="1">
                <a:solidFill>
                  <a:srgbClr val="FF3366"/>
                </a:solidFill>
                <a:latin typeface="Brush Script MT"/>
                <a:cs typeface="Brush Script MT"/>
              </a:rPr>
              <a:t>Overview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0307840" y="514350"/>
            <a:ext cx="1408430" cy="323850"/>
            <a:chOff x="10307840" y="514350"/>
            <a:chExt cx="1408430" cy="32385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07840" y="514350"/>
              <a:ext cx="1407909" cy="3238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50944" y="609600"/>
              <a:ext cx="125758" cy="13335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303" y="2753017"/>
            <a:ext cx="3674046" cy="211396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88641" y="3043670"/>
            <a:ext cx="447675" cy="447675"/>
            <a:chOff x="688641" y="3043670"/>
            <a:chExt cx="447675" cy="44767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641" y="3043670"/>
              <a:ext cx="447229" cy="4472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9116" y="3160834"/>
              <a:ext cx="166277" cy="21289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2049437" y="3729037"/>
            <a:ext cx="485775" cy="161925"/>
            <a:chOff x="2049437" y="3729037"/>
            <a:chExt cx="485775" cy="161925"/>
          </a:xfrm>
        </p:grpSpPr>
        <p:sp>
          <p:nvSpPr>
            <p:cNvPr id="9" name="object 9"/>
            <p:cNvSpPr/>
            <p:nvPr/>
          </p:nvSpPr>
          <p:spPr>
            <a:xfrm>
              <a:off x="2054199" y="3733800"/>
              <a:ext cx="476250" cy="152400"/>
            </a:xfrm>
            <a:custGeom>
              <a:avLst/>
              <a:gdLst/>
              <a:ahLst/>
              <a:cxnLst/>
              <a:rect l="l" t="t" r="r" b="b"/>
              <a:pathLst>
                <a:path w="476250" h="152400">
                  <a:moveTo>
                    <a:pt x="47625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476250" y="152400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054199" y="3733800"/>
              <a:ext cx="476250" cy="152400"/>
            </a:xfrm>
            <a:custGeom>
              <a:avLst/>
              <a:gdLst/>
              <a:ahLst/>
              <a:cxnLst/>
              <a:rect l="l" t="t" r="r" b="b"/>
              <a:pathLst>
                <a:path w="476250" h="152400">
                  <a:moveTo>
                    <a:pt x="0" y="0"/>
                  </a:moveTo>
                  <a:lnTo>
                    <a:pt x="476250" y="0"/>
                  </a:lnTo>
                  <a:lnTo>
                    <a:pt x="47625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87909" y="3536772"/>
            <a:ext cx="15290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215">
                <a:solidFill>
                  <a:srgbClr val="0F172A"/>
                </a:solidFill>
                <a:latin typeface="Calibri"/>
                <a:cs typeface="Calibri"/>
              </a:rPr>
              <a:t>Track</a:t>
            </a:r>
            <a:r>
              <a:rPr dirty="0" sz="1500" spc="-35">
                <a:solidFill>
                  <a:srgbClr val="0F172A"/>
                </a:solidFill>
                <a:latin typeface="Calibri"/>
                <a:cs typeface="Calibri"/>
              </a:rPr>
              <a:t> </a:t>
            </a:r>
            <a:r>
              <a:rPr dirty="0" sz="1500" spc="190">
                <a:solidFill>
                  <a:srgbClr val="0F172A"/>
                </a:solidFill>
                <a:latin typeface="Calibri"/>
                <a:cs typeface="Calibri"/>
              </a:rPr>
              <a:t>Outflows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4692" y="3858640"/>
            <a:ext cx="308546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400" spc="55">
                <a:solidFill>
                  <a:srgbClr val="334155"/>
                </a:solidFill>
                <a:latin typeface="Calibri"/>
                <a:cs typeface="Calibri"/>
              </a:rPr>
              <a:t>Log</a:t>
            </a:r>
            <a:r>
              <a:rPr dirty="0" sz="1400" spc="30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incoming</a:t>
            </a:r>
            <a:r>
              <a:rPr dirty="0" sz="1400" spc="30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cash,</a:t>
            </a:r>
            <a:r>
              <a:rPr dirty="0" sz="1400" spc="30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monthly</a:t>
            </a:r>
            <a:r>
              <a:rPr dirty="0" sz="1400" spc="31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allowance,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dirty="0" sz="1400" spc="26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70">
                <a:solidFill>
                  <a:srgbClr val="334155"/>
                </a:solidFill>
                <a:latin typeface="Calibri"/>
                <a:cs typeface="Calibri"/>
              </a:rPr>
              <a:t>every</a:t>
            </a:r>
            <a:r>
              <a:rPr dirty="0" sz="14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single</a:t>
            </a:r>
            <a:r>
              <a:rPr dirty="0" sz="14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55">
                <a:solidFill>
                  <a:srgbClr val="334155"/>
                </a:solidFill>
                <a:latin typeface="Calibri"/>
                <a:cs typeface="Calibri"/>
              </a:rPr>
              <a:t>coffee</a:t>
            </a:r>
            <a:r>
              <a:rPr dirty="0" sz="14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50">
                <a:solidFill>
                  <a:srgbClr val="334155"/>
                </a:solidFill>
                <a:latin typeface="Calibri"/>
                <a:cs typeface="Calibri"/>
              </a:rPr>
              <a:t>purchase</a:t>
            </a:r>
            <a:r>
              <a:rPr dirty="0" sz="14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334155"/>
                </a:solidFill>
                <a:latin typeface="Calibri"/>
                <a:cs typeface="Calibri"/>
              </a:rPr>
              <a:t>in 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seconds.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8863" y="2759278"/>
            <a:ext cx="3667175" cy="210143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14837" y="2991843"/>
            <a:ext cx="445729" cy="44572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16830" y="3107871"/>
            <a:ext cx="241744" cy="21367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486186" y="3426010"/>
            <a:ext cx="3149600" cy="92138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15"/>
              </a:spcBef>
            </a:pPr>
            <a:r>
              <a:rPr dirty="0" sz="1500" spc="130">
                <a:solidFill>
                  <a:srgbClr val="0F172A"/>
                </a:solidFill>
                <a:latin typeface="Calibri"/>
                <a:cs typeface="Calibri"/>
              </a:rPr>
              <a:t>Custom</a:t>
            </a:r>
            <a:r>
              <a:rPr dirty="0" sz="1500" spc="-30">
                <a:solidFill>
                  <a:srgbClr val="0F172A"/>
                </a:solidFill>
                <a:latin typeface="Calibri"/>
                <a:cs typeface="Calibri"/>
              </a:rPr>
              <a:t> </a:t>
            </a:r>
            <a:r>
              <a:rPr dirty="0" sz="1500" spc="114">
                <a:solidFill>
                  <a:srgbClr val="0F172A"/>
                </a:solidFill>
                <a:latin typeface="Calibri"/>
                <a:cs typeface="Calibri"/>
              </a:rPr>
              <a:t>Buckets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7100"/>
              </a:lnSpc>
              <a:spcBef>
                <a:spcPts val="735"/>
              </a:spcBef>
            </a:pPr>
            <a:r>
              <a:rPr dirty="0" sz="1400" spc="105">
                <a:solidFill>
                  <a:srgbClr val="334155"/>
                </a:solidFill>
                <a:latin typeface="Calibri"/>
                <a:cs typeface="Calibri"/>
              </a:rPr>
              <a:t>Sort</a:t>
            </a:r>
            <a:r>
              <a:rPr dirty="0" sz="14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expenses</a:t>
            </a:r>
            <a:r>
              <a:rPr dirty="0" sz="1400" spc="26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into</a:t>
            </a:r>
            <a:r>
              <a:rPr dirty="0" sz="14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Food,</a:t>
            </a:r>
            <a:r>
              <a:rPr dirty="0" sz="14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Subscriptions,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Rent,</a:t>
            </a:r>
            <a:r>
              <a:rPr dirty="0" sz="1400" spc="31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dirty="0" sz="1400" spc="19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Travel</a:t>
            </a:r>
            <a:r>
              <a:rPr dirty="0" sz="1400" spc="32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334155"/>
                </a:solidFill>
                <a:latin typeface="Calibri"/>
                <a:cs typeface="Calibri"/>
              </a:rPr>
              <a:t>effortlessly.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9402" y="2765577"/>
            <a:ext cx="3660254" cy="208885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01164" y="3035550"/>
            <a:ext cx="444225" cy="44422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02764" y="3151235"/>
            <a:ext cx="241026" cy="21285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39899" y="3620846"/>
            <a:ext cx="44450" cy="13017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296452" y="3431507"/>
            <a:ext cx="3097530" cy="114998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500" spc="125">
                <a:solidFill>
                  <a:srgbClr val="0F172A"/>
                </a:solidFill>
                <a:latin typeface="Calibri"/>
                <a:cs typeface="Calibri"/>
              </a:rPr>
              <a:t>V</a:t>
            </a:r>
            <a:r>
              <a:rPr dirty="0" sz="1500" spc="110">
                <a:solidFill>
                  <a:srgbClr val="0F172A"/>
                </a:solidFill>
                <a:latin typeface="Calibri"/>
                <a:cs typeface="Calibri"/>
              </a:rPr>
              <a:t> </a:t>
            </a:r>
            <a:r>
              <a:rPr dirty="0" sz="1500" spc="185">
                <a:solidFill>
                  <a:srgbClr val="0F172A"/>
                </a:solidFill>
                <a:latin typeface="Calibri"/>
                <a:cs typeface="Calibri"/>
              </a:rPr>
              <a:t>sual</a:t>
            </a:r>
            <a:r>
              <a:rPr dirty="0" sz="1500" spc="-35">
                <a:solidFill>
                  <a:srgbClr val="0F172A"/>
                </a:solidFill>
                <a:latin typeface="Calibri"/>
                <a:cs typeface="Calibri"/>
              </a:rPr>
              <a:t> </a:t>
            </a:r>
            <a:r>
              <a:rPr dirty="0" sz="1500" spc="145">
                <a:solidFill>
                  <a:srgbClr val="0F172A"/>
                </a:solidFill>
                <a:latin typeface="Calibri"/>
                <a:cs typeface="Calibri"/>
              </a:rPr>
              <a:t>Graphs</a:t>
            </a:r>
            <a:endParaRPr sz="1500">
              <a:latin typeface="Calibri"/>
              <a:cs typeface="Calibri"/>
            </a:endParaRPr>
          </a:p>
          <a:p>
            <a:pPr marL="17145" marR="5080">
              <a:lnSpc>
                <a:spcPct val="107100"/>
              </a:lnSpc>
              <a:spcBef>
                <a:spcPts val="735"/>
              </a:spcBef>
            </a:pP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Ditch</a:t>
            </a:r>
            <a:r>
              <a:rPr dirty="0" sz="1400" spc="41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50">
                <a:solidFill>
                  <a:srgbClr val="334155"/>
                </a:solidFill>
                <a:latin typeface="Calibri"/>
                <a:cs typeface="Calibri"/>
              </a:rPr>
              <a:t>painful</a:t>
            </a:r>
            <a:r>
              <a:rPr dirty="0" sz="1400" spc="42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manual</a:t>
            </a:r>
            <a:r>
              <a:rPr dirty="0" sz="1400" spc="42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spreadsheets</a:t>
            </a:r>
            <a:r>
              <a:rPr dirty="0" sz="1400" spc="41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334155"/>
                </a:solidFill>
                <a:latin typeface="Calibri"/>
                <a:cs typeface="Calibri"/>
              </a:rPr>
              <a:t>for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automated</a:t>
            </a:r>
            <a:r>
              <a:rPr dirty="0" sz="1400" spc="4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balance</a:t>
            </a:r>
            <a:r>
              <a:rPr dirty="0" sz="1400" spc="4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calculations</a:t>
            </a:r>
            <a:r>
              <a:rPr dirty="0" sz="1400" spc="4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334155"/>
                </a:solidFill>
                <a:latin typeface="Calibri"/>
                <a:cs typeface="Calibri"/>
              </a:rPr>
              <a:t>and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visual</a:t>
            </a:r>
            <a:r>
              <a:rPr dirty="0" sz="1400" spc="43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40">
                <a:solidFill>
                  <a:srgbClr val="334155"/>
                </a:solidFill>
                <a:latin typeface="Calibri"/>
                <a:cs typeface="Calibri"/>
              </a:rPr>
              <a:t>analytics.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315"/>
              <a:t> </a:t>
            </a:r>
            <a:r>
              <a:rPr dirty="0" spc="-10" i="1">
                <a:solidFill>
                  <a:srgbClr val="FF3366"/>
                </a:solidFill>
                <a:latin typeface="Brush Script MT"/>
                <a:cs typeface="Brush Script MT"/>
              </a:rPr>
              <a:t>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71000" y="453990"/>
            <a:ext cx="2351125" cy="44457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690" y="2034583"/>
            <a:ext cx="3447643" cy="61237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63368" y="2733738"/>
            <a:ext cx="6019165" cy="866775"/>
            <a:chOff x="463368" y="2733738"/>
            <a:chExt cx="6019165" cy="866775"/>
          </a:xfrm>
        </p:grpSpPr>
        <p:sp>
          <p:nvSpPr>
            <p:cNvPr id="7" name="object 7"/>
            <p:cNvSpPr/>
            <p:nvPr/>
          </p:nvSpPr>
          <p:spPr>
            <a:xfrm>
              <a:off x="472893" y="2743263"/>
              <a:ext cx="6000115" cy="847725"/>
            </a:xfrm>
            <a:custGeom>
              <a:avLst/>
              <a:gdLst/>
              <a:ahLst/>
              <a:cxnLst/>
              <a:rect l="l" t="t" r="r" b="b"/>
              <a:pathLst>
                <a:path w="6000115" h="847725">
                  <a:moveTo>
                    <a:pt x="5847325" y="0"/>
                  </a:moveTo>
                  <a:lnTo>
                    <a:pt x="152398" y="0"/>
                  </a:lnTo>
                  <a:lnTo>
                    <a:pt x="104228" y="7768"/>
                  </a:lnTo>
                  <a:lnTo>
                    <a:pt x="62393" y="29402"/>
                  </a:lnTo>
                  <a:lnTo>
                    <a:pt x="29403" y="62391"/>
                  </a:lnTo>
                  <a:lnTo>
                    <a:pt x="7769" y="104226"/>
                  </a:lnTo>
                  <a:lnTo>
                    <a:pt x="0" y="152400"/>
                  </a:lnTo>
                  <a:lnTo>
                    <a:pt x="0" y="695198"/>
                  </a:lnTo>
                  <a:lnTo>
                    <a:pt x="7769" y="743371"/>
                  </a:lnTo>
                  <a:lnTo>
                    <a:pt x="29403" y="785206"/>
                  </a:lnTo>
                  <a:lnTo>
                    <a:pt x="62393" y="818195"/>
                  </a:lnTo>
                  <a:lnTo>
                    <a:pt x="104228" y="839829"/>
                  </a:lnTo>
                  <a:lnTo>
                    <a:pt x="152398" y="847598"/>
                  </a:lnTo>
                  <a:lnTo>
                    <a:pt x="5847325" y="847598"/>
                  </a:lnTo>
                  <a:lnTo>
                    <a:pt x="5895493" y="839829"/>
                  </a:lnTo>
                  <a:lnTo>
                    <a:pt x="5937328" y="818195"/>
                  </a:lnTo>
                  <a:lnTo>
                    <a:pt x="5970319" y="785206"/>
                  </a:lnTo>
                  <a:lnTo>
                    <a:pt x="5991955" y="743371"/>
                  </a:lnTo>
                  <a:lnTo>
                    <a:pt x="5999725" y="695198"/>
                  </a:lnTo>
                  <a:lnTo>
                    <a:pt x="5999725" y="152400"/>
                  </a:lnTo>
                  <a:lnTo>
                    <a:pt x="5991955" y="104226"/>
                  </a:lnTo>
                  <a:lnTo>
                    <a:pt x="5970319" y="62391"/>
                  </a:lnTo>
                  <a:lnTo>
                    <a:pt x="5937328" y="29402"/>
                  </a:lnTo>
                  <a:lnTo>
                    <a:pt x="5895493" y="7768"/>
                  </a:lnTo>
                  <a:lnTo>
                    <a:pt x="5847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2893" y="2743263"/>
              <a:ext cx="6000115" cy="847725"/>
            </a:xfrm>
            <a:custGeom>
              <a:avLst/>
              <a:gdLst/>
              <a:ahLst/>
              <a:cxnLst/>
              <a:rect l="l" t="t" r="r" b="b"/>
              <a:pathLst>
                <a:path w="6000115" h="847725">
                  <a:moveTo>
                    <a:pt x="152398" y="0"/>
                  </a:moveTo>
                  <a:lnTo>
                    <a:pt x="5847321" y="0"/>
                  </a:lnTo>
                  <a:lnTo>
                    <a:pt x="5895494" y="7769"/>
                  </a:lnTo>
                  <a:lnTo>
                    <a:pt x="5937329" y="29404"/>
                  </a:lnTo>
                  <a:lnTo>
                    <a:pt x="5970319" y="62394"/>
                  </a:lnTo>
                  <a:lnTo>
                    <a:pt x="5991952" y="104229"/>
                  </a:lnTo>
                  <a:lnTo>
                    <a:pt x="5999721" y="152398"/>
                  </a:lnTo>
                  <a:lnTo>
                    <a:pt x="5999721" y="695205"/>
                  </a:lnTo>
                  <a:lnTo>
                    <a:pt x="5991952" y="743375"/>
                  </a:lnTo>
                  <a:lnTo>
                    <a:pt x="5970319" y="785210"/>
                  </a:lnTo>
                  <a:lnTo>
                    <a:pt x="5937329" y="818201"/>
                  </a:lnTo>
                  <a:lnTo>
                    <a:pt x="5895494" y="839836"/>
                  </a:lnTo>
                  <a:lnTo>
                    <a:pt x="5847321" y="847605"/>
                  </a:lnTo>
                  <a:lnTo>
                    <a:pt x="152398" y="847605"/>
                  </a:lnTo>
                  <a:lnTo>
                    <a:pt x="104229" y="839836"/>
                  </a:lnTo>
                  <a:lnTo>
                    <a:pt x="62394" y="818201"/>
                  </a:lnTo>
                  <a:lnTo>
                    <a:pt x="29404" y="785210"/>
                  </a:lnTo>
                  <a:lnTo>
                    <a:pt x="7769" y="743375"/>
                  </a:lnTo>
                  <a:lnTo>
                    <a:pt x="0" y="695205"/>
                  </a:lnTo>
                  <a:lnTo>
                    <a:pt x="0" y="152398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8" y="0"/>
                  </a:lnTo>
                  <a:close/>
                </a:path>
              </a:pathLst>
            </a:custGeom>
            <a:ln w="19050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4990" y="3037319"/>
            <a:ext cx="161925" cy="21907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72893" y="3571811"/>
            <a:ext cx="6000115" cy="19050"/>
          </a:xfrm>
          <a:custGeom>
            <a:avLst/>
            <a:gdLst/>
            <a:ahLst/>
            <a:cxnLst/>
            <a:rect l="l" t="t" r="r" b="b"/>
            <a:pathLst>
              <a:path w="6000115" h="19050">
                <a:moveTo>
                  <a:pt x="5999721" y="0"/>
                </a:moveTo>
                <a:lnTo>
                  <a:pt x="0" y="0"/>
                </a:lnTo>
                <a:lnTo>
                  <a:pt x="0" y="19050"/>
                </a:lnTo>
                <a:lnTo>
                  <a:pt x="5999721" y="19050"/>
                </a:lnTo>
                <a:lnTo>
                  <a:pt x="5999721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61464" y="3646754"/>
            <a:ext cx="6022975" cy="898525"/>
            <a:chOff x="461464" y="3646754"/>
            <a:chExt cx="6022975" cy="898525"/>
          </a:xfrm>
        </p:grpSpPr>
        <p:sp>
          <p:nvSpPr>
            <p:cNvPr id="10" name="object 10"/>
            <p:cNvSpPr/>
            <p:nvPr/>
          </p:nvSpPr>
          <p:spPr>
            <a:xfrm>
              <a:off x="470989" y="3656279"/>
              <a:ext cx="6003925" cy="879475"/>
            </a:xfrm>
            <a:custGeom>
              <a:avLst/>
              <a:gdLst/>
              <a:ahLst/>
              <a:cxnLst/>
              <a:rect l="l" t="t" r="r" b="b"/>
              <a:pathLst>
                <a:path w="6003925" h="879475">
                  <a:moveTo>
                    <a:pt x="5851133" y="0"/>
                  </a:moveTo>
                  <a:lnTo>
                    <a:pt x="152397" y="0"/>
                  </a:lnTo>
                  <a:lnTo>
                    <a:pt x="104228" y="7769"/>
                  </a:lnTo>
                  <a:lnTo>
                    <a:pt x="62393" y="29405"/>
                  </a:lnTo>
                  <a:lnTo>
                    <a:pt x="29403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726541"/>
                  </a:lnTo>
                  <a:lnTo>
                    <a:pt x="7769" y="774709"/>
                  </a:lnTo>
                  <a:lnTo>
                    <a:pt x="29403" y="816544"/>
                  </a:lnTo>
                  <a:lnTo>
                    <a:pt x="62393" y="849535"/>
                  </a:lnTo>
                  <a:lnTo>
                    <a:pt x="104228" y="871171"/>
                  </a:lnTo>
                  <a:lnTo>
                    <a:pt x="152397" y="878941"/>
                  </a:lnTo>
                  <a:lnTo>
                    <a:pt x="5851133" y="878941"/>
                  </a:lnTo>
                  <a:lnTo>
                    <a:pt x="5899301" y="871171"/>
                  </a:lnTo>
                  <a:lnTo>
                    <a:pt x="5941137" y="849535"/>
                  </a:lnTo>
                  <a:lnTo>
                    <a:pt x="5974127" y="816544"/>
                  </a:lnTo>
                  <a:lnTo>
                    <a:pt x="5995763" y="774709"/>
                  </a:lnTo>
                  <a:lnTo>
                    <a:pt x="6003533" y="726541"/>
                  </a:lnTo>
                  <a:lnTo>
                    <a:pt x="6003533" y="152400"/>
                  </a:lnTo>
                  <a:lnTo>
                    <a:pt x="5995763" y="104231"/>
                  </a:lnTo>
                  <a:lnTo>
                    <a:pt x="5974127" y="62396"/>
                  </a:lnTo>
                  <a:lnTo>
                    <a:pt x="5941137" y="29405"/>
                  </a:lnTo>
                  <a:lnTo>
                    <a:pt x="5899301" y="7769"/>
                  </a:lnTo>
                  <a:lnTo>
                    <a:pt x="5851133" y="0"/>
                  </a:lnTo>
                  <a:close/>
                </a:path>
              </a:pathLst>
            </a:custGeom>
            <a:solidFill>
              <a:srgbClr val="F8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0989" y="3656279"/>
              <a:ext cx="6003925" cy="879475"/>
            </a:xfrm>
            <a:custGeom>
              <a:avLst/>
              <a:gdLst/>
              <a:ahLst/>
              <a:cxnLst/>
              <a:rect l="l" t="t" r="r" b="b"/>
              <a:pathLst>
                <a:path w="6003925" h="879475">
                  <a:moveTo>
                    <a:pt x="152398" y="0"/>
                  </a:moveTo>
                  <a:lnTo>
                    <a:pt x="5851131" y="0"/>
                  </a:lnTo>
                  <a:lnTo>
                    <a:pt x="5899299" y="7769"/>
                  </a:lnTo>
                  <a:lnTo>
                    <a:pt x="5941134" y="29404"/>
                  </a:lnTo>
                  <a:lnTo>
                    <a:pt x="5974125" y="62393"/>
                  </a:lnTo>
                  <a:lnTo>
                    <a:pt x="5995761" y="104228"/>
                  </a:lnTo>
                  <a:lnTo>
                    <a:pt x="6003531" y="152398"/>
                  </a:lnTo>
                  <a:lnTo>
                    <a:pt x="6003531" y="726536"/>
                  </a:lnTo>
                  <a:lnTo>
                    <a:pt x="5995761" y="774706"/>
                  </a:lnTo>
                  <a:lnTo>
                    <a:pt x="5974125" y="816540"/>
                  </a:lnTo>
                  <a:lnTo>
                    <a:pt x="5941134" y="849530"/>
                  </a:lnTo>
                  <a:lnTo>
                    <a:pt x="5899299" y="871165"/>
                  </a:lnTo>
                  <a:lnTo>
                    <a:pt x="5851131" y="878935"/>
                  </a:lnTo>
                  <a:lnTo>
                    <a:pt x="152398" y="878935"/>
                  </a:lnTo>
                  <a:lnTo>
                    <a:pt x="104228" y="871165"/>
                  </a:lnTo>
                  <a:lnTo>
                    <a:pt x="62393" y="849530"/>
                  </a:lnTo>
                  <a:lnTo>
                    <a:pt x="29404" y="816540"/>
                  </a:lnTo>
                  <a:lnTo>
                    <a:pt x="7769" y="774706"/>
                  </a:lnTo>
                  <a:lnTo>
                    <a:pt x="0" y="726536"/>
                  </a:lnTo>
                  <a:lnTo>
                    <a:pt x="0" y="152398"/>
                  </a:lnTo>
                  <a:lnTo>
                    <a:pt x="7769" y="104228"/>
                  </a:lnTo>
                  <a:lnTo>
                    <a:pt x="29404" y="62393"/>
                  </a:lnTo>
                  <a:lnTo>
                    <a:pt x="62393" y="29404"/>
                  </a:lnTo>
                  <a:lnTo>
                    <a:pt x="104228" y="7769"/>
                  </a:lnTo>
                  <a:lnTo>
                    <a:pt x="152398" y="0"/>
                  </a:lnTo>
                  <a:close/>
                </a:path>
              </a:pathLst>
            </a:custGeom>
            <a:ln w="19050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4990" y="3986212"/>
            <a:ext cx="161925" cy="219075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470988" y="4516170"/>
            <a:ext cx="6003925" cy="19050"/>
          </a:xfrm>
          <a:custGeom>
            <a:avLst/>
            <a:gdLst/>
            <a:ahLst/>
            <a:cxnLst/>
            <a:rect l="l" t="t" r="r" b="b"/>
            <a:pathLst>
              <a:path w="6003925" h="19050">
                <a:moveTo>
                  <a:pt x="6003531" y="0"/>
                </a:moveTo>
                <a:lnTo>
                  <a:pt x="0" y="0"/>
                </a:lnTo>
                <a:lnTo>
                  <a:pt x="0" y="19049"/>
                </a:lnTo>
                <a:lnTo>
                  <a:pt x="6003531" y="19049"/>
                </a:lnTo>
                <a:lnTo>
                  <a:pt x="6003531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462724" y="4585880"/>
            <a:ext cx="6020435" cy="877569"/>
            <a:chOff x="462724" y="4585880"/>
            <a:chExt cx="6020435" cy="877569"/>
          </a:xfrm>
        </p:grpSpPr>
        <p:sp>
          <p:nvSpPr>
            <p:cNvPr id="13" name="object 13"/>
            <p:cNvSpPr/>
            <p:nvPr/>
          </p:nvSpPr>
          <p:spPr>
            <a:xfrm>
              <a:off x="472249" y="4595405"/>
              <a:ext cx="6001385" cy="858519"/>
            </a:xfrm>
            <a:custGeom>
              <a:avLst/>
              <a:gdLst/>
              <a:ahLst/>
              <a:cxnLst/>
              <a:rect l="l" t="t" r="r" b="b"/>
              <a:pathLst>
                <a:path w="6001385" h="858520">
                  <a:moveTo>
                    <a:pt x="5848616" y="0"/>
                  </a:moveTo>
                  <a:lnTo>
                    <a:pt x="152397" y="0"/>
                  </a:lnTo>
                  <a:lnTo>
                    <a:pt x="104228" y="7769"/>
                  </a:lnTo>
                  <a:lnTo>
                    <a:pt x="62393" y="29405"/>
                  </a:lnTo>
                  <a:lnTo>
                    <a:pt x="29403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705662"/>
                  </a:lnTo>
                  <a:lnTo>
                    <a:pt x="7769" y="753829"/>
                  </a:lnTo>
                  <a:lnTo>
                    <a:pt x="29403" y="795661"/>
                  </a:lnTo>
                  <a:lnTo>
                    <a:pt x="62393" y="828648"/>
                  </a:lnTo>
                  <a:lnTo>
                    <a:pt x="104228" y="850281"/>
                  </a:lnTo>
                  <a:lnTo>
                    <a:pt x="152397" y="858050"/>
                  </a:lnTo>
                  <a:lnTo>
                    <a:pt x="5848616" y="858050"/>
                  </a:lnTo>
                  <a:lnTo>
                    <a:pt x="5896783" y="850281"/>
                  </a:lnTo>
                  <a:lnTo>
                    <a:pt x="5938615" y="828648"/>
                  </a:lnTo>
                  <a:lnTo>
                    <a:pt x="5971602" y="795661"/>
                  </a:lnTo>
                  <a:lnTo>
                    <a:pt x="5993235" y="753829"/>
                  </a:lnTo>
                  <a:lnTo>
                    <a:pt x="6001004" y="705662"/>
                  </a:lnTo>
                  <a:lnTo>
                    <a:pt x="6001004" y="152400"/>
                  </a:lnTo>
                  <a:lnTo>
                    <a:pt x="5993235" y="104231"/>
                  </a:lnTo>
                  <a:lnTo>
                    <a:pt x="5971602" y="62396"/>
                  </a:lnTo>
                  <a:lnTo>
                    <a:pt x="5938615" y="29405"/>
                  </a:lnTo>
                  <a:lnTo>
                    <a:pt x="5896783" y="7769"/>
                  </a:lnTo>
                  <a:lnTo>
                    <a:pt x="5848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2249" y="4595405"/>
              <a:ext cx="6001385" cy="858519"/>
            </a:xfrm>
            <a:custGeom>
              <a:avLst/>
              <a:gdLst/>
              <a:ahLst/>
              <a:cxnLst/>
              <a:rect l="l" t="t" r="r" b="b"/>
              <a:pathLst>
                <a:path w="6001385" h="858520">
                  <a:moveTo>
                    <a:pt x="152398" y="0"/>
                  </a:moveTo>
                  <a:lnTo>
                    <a:pt x="5848616" y="0"/>
                  </a:lnTo>
                  <a:lnTo>
                    <a:pt x="5896783" y="7769"/>
                  </a:lnTo>
                  <a:lnTo>
                    <a:pt x="5938615" y="29404"/>
                  </a:lnTo>
                  <a:lnTo>
                    <a:pt x="5971602" y="62393"/>
                  </a:lnTo>
                  <a:lnTo>
                    <a:pt x="5993235" y="104228"/>
                  </a:lnTo>
                  <a:lnTo>
                    <a:pt x="6001004" y="152398"/>
                  </a:lnTo>
                  <a:lnTo>
                    <a:pt x="6001004" y="705652"/>
                  </a:lnTo>
                  <a:lnTo>
                    <a:pt x="5993235" y="753822"/>
                  </a:lnTo>
                  <a:lnTo>
                    <a:pt x="5971602" y="795657"/>
                  </a:lnTo>
                  <a:lnTo>
                    <a:pt x="5938615" y="828647"/>
                  </a:lnTo>
                  <a:lnTo>
                    <a:pt x="5896783" y="850281"/>
                  </a:lnTo>
                  <a:lnTo>
                    <a:pt x="5848616" y="858051"/>
                  </a:lnTo>
                  <a:lnTo>
                    <a:pt x="152398" y="858051"/>
                  </a:lnTo>
                  <a:lnTo>
                    <a:pt x="104228" y="850281"/>
                  </a:lnTo>
                  <a:lnTo>
                    <a:pt x="62393" y="828647"/>
                  </a:lnTo>
                  <a:lnTo>
                    <a:pt x="29404" y="795657"/>
                  </a:lnTo>
                  <a:lnTo>
                    <a:pt x="7769" y="753822"/>
                  </a:lnTo>
                  <a:lnTo>
                    <a:pt x="0" y="705652"/>
                  </a:lnTo>
                  <a:lnTo>
                    <a:pt x="0" y="152398"/>
                  </a:lnTo>
                  <a:lnTo>
                    <a:pt x="7769" y="104228"/>
                  </a:lnTo>
                  <a:lnTo>
                    <a:pt x="29404" y="62393"/>
                  </a:lnTo>
                  <a:lnTo>
                    <a:pt x="62393" y="29404"/>
                  </a:lnTo>
                  <a:lnTo>
                    <a:pt x="104228" y="7769"/>
                  </a:lnTo>
                  <a:lnTo>
                    <a:pt x="152398" y="0"/>
                  </a:lnTo>
                  <a:close/>
                </a:path>
              </a:pathLst>
            </a:custGeom>
            <a:ln w="19050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5465" y="4914900"/>
            <a:ext cx="180975" cy="21907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84374" y="2834322"/>
            <a:ext cx="5271135" cy="2421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" marR="81280">
              <a:lnSpc>
                <a:spcPct val="124400"/>
              </a:lnSpc>
              <a:spcBef>
                <a:spcPts val="100"/>
              </a:spcBef>
            </a:pPr>
            <a:r>
              <a:rPr dirty="0" sz="1400">
                <a:solidFill>
                  <a:srgbClr val="00000B"/>
                </a:solidFill>
                <a:latin typeface="Arial Narrow"/>
                <a:cs typeface="Arial Narrow"/>
              </a:rPr>
              <a:t>Vanishing</a:t>
            </a:r>
            <a:r>
              <a:rPr dirty="0" sz="1400" spc="150">
                <a:solidFill>
                  <a:srgbClr val="00000B"/>
                </a:solidFill>
                <a:latin typeface="Arial Narrow"/>
                <a:cs typeface="Arial Narrow"/>
              </a:rPr>
              <a:t> </a:t>
            </a:r>
            <a:r>
              <a:rPr dirty="0" sz="1400" spc="-10">
                <a:solidFill>
                  <a:srgbClr val="00000B"/>
                </a:solidFill>
                <a:latin typeface="Arial Narrow"/>
                <a:cs typeface="Arial Narrow"/>
              </a:rPr>
              <a:t>Cash</a:t>
            </a:r>
            <a:r>
              <a:rPr dirty="0" sz="1400" spc="-10">
                <a:solidFill>
                  <a:srgbClr val="00000B"/>
                </a:solidFill>
                <a:latin typeface="Calibri"/>
                <a:cs typeface="Calibri"/>
              </a:rPr>
              <a:t>:</a:t>
            </a:r>
            <a:r>
              <a:rPr dirty="0" sz="1400" spc="110">
                <a:solidFill>
                  <a:srgbClr val="00000B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B"/>
                </a:solidFill>
                <a:latin typeface="Calibri"/>
                <a:cs typeface="Calibri"/>
              </a:rPr>
              <a:t>Digital</a:t>
            </a:r>
            <a:r>
              <a:rPr dirty="0" sz="1400" spc="395">
                <a:solidFill>
                  <a:srgbClr val="00000B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B"/>
                </a:solidFill>
                <a:latin typeface="Calibri"/>
                <a:cs typeface="Calibri"/>
              </a:rPr>
              <a:t>payments</a:t>
            </a:r>
            <a:r>
              <a:rPr dirty="0" sz="1400" spc="395">
                <a:solidFill>
                  <a:srgbClr val="00000B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B"/>
                </a:solidFill>
                <a:latin typeface="Calibri"/>
                <a:cs typeface="Calibri"/>
              </a:rPr>
              <a:t>make</a:t>
            </a:r>
            <a:r>
              <a:rPr dirty="0" sz="1400" spc="395">
                <a:solidFill>
                  <a:srgbClr val="00000B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B"/>
                </a:solidFill>
                <a:latin typeface="Calibri"/>
                <a:cs typeface="Calibri"/>
              </a:rPr>
              <a:t>money</a:t>
            </a:r>
            <a:r>
              <a:rPr dirty="0" sz="1400" spc="390">
                <a:solidFill>
                  <a:srgbClr val="00000B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B"/>
                </a:solidFill>
                <a:latin typeface="Calibri"/>
                <a:cs typeface="Calibri"/>
              </a:rPr>
              <a:t>disappear</a:t>
            </a:r>
            <a:r>
              <a:rPr dirty="0" sz="1400" spc="395">
                <a:solidFill>
                  <a:srgbClr val="00000B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000B"/>
                </a:solidFill>
                <a:latin typeface="Calibri"/>
                <a:cs typeface="Calibri"/>
              </a:rPr>
              <a:t>with</a:t>
            </a:r>
            <a:r>
              <a:rPr dirty="0" sz="1400" spc="395">
                <a:solidFill>
                  <a:srgbClr val="00000B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00000B"/>
                </a:solidFill>
                <a:latin typeface="Calibri"/>
                <a:cs typeface="Calibri"/>
              </a:rPr>
              <a:t>zero </a:t>
            </a:r>
            <a:r>
              <a:rPr dirty="0" sz="1400">
                <a:solidFill>
                  <a:srgbClr val="00000B"/>
                </a:solidFill>
                <a:latin typeface="Calibri"/>
                <a:cs typeface="Calibri"/>
              </a:rPr>
              <a:t>audit</a:t>
            </a:r>
            <a:r>
              <a:rPr dirty="0" sz="1400" spc="400">
                <a:solidFill>
                  <a:srgbClr val="00000B"/>
                </a:solidFill>
                <a:latin typeface="Calibri"/>
                <a:cs typeface="Calibri"/>
              </a:rPr>
              <a:t> </a:t>
            </a:r>
            <a:r>
              <a:rPr dirty="0" sz="1400" spc="40">
                <a:solidFill>
                  <a:srgbClr val="00000B"/>
                </a:solidFill>
                <a:latin typeface="Calibri"/>
                <a:cs typeface="Calibri"/>
              </a:rPr>
              <a:t>trail.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24400"/>
              </a:lnSpc>
            </a:pPr>
            <a:r>
              <a:rPr dirty="0" sz="1400">
                <a:latin typeface="Arial Narrow"/>
                <a:cs typeface="Arial Narrow"/>
              </a:rPr>
              <a:t>Spreadsheet</a:t>
            </a:r>
            <a:r>
              <a:rPr dirty="0" sz="1400" spc="140">
                <a:latin typeface="Arial Narrow"/>
                <a:cs typeface="Arial Narrow"/>
              </a:rPr>
              <a:t> </a:t>
            </a:r>
            <a:r>
              <a:rPr dirty="0" sz="1400">
                <a:latin typeface="Arial Narrow"/>
                <a:cs typeface="Arial Narrow"/>
              </a:rPr>
              <a:t>Pain</a:t>
            </a:r>
            <a:r>
              <a:rPr dirty="0" sz="1400">
                <a:latin typeface="Calibri"/>
                <a:cs typeface="Calibri"/>
              </a:rPr>
              <a:t>:</a:t>
            </a:r>
            <a:r>
              <a:rPr dirty="0" sz="1400" spc="190"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Manual</a:t>
            </a:r>
            <a:r>
              <a:rPr dirty="0" sz="1400" spc="3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70">
                <a:solidFill>
                  <a:srgbClr val="334155"/>
                </a:solidFill>
                <a:latin typeface="Calibri"/>
                <a:cs typeface="Calibri"/>
              </a:rPr>
              <a:t>Excel</a:t>
            </a:r>
            <a:r>
              <a:rPr dirty="0" sz="1400" spc="3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334155"/>
                </a:solidFill>
                <a:latin typeface="Calibri"/>
                <a:cs typeface="Calibri"/>
              </a:rPr>
              <a:t>tracking</a:t>
            </a:r>
            <a:r>
              <a:rPr dirty="0" sz="1400" spc="3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leads</a:t>
            </a:r>
            <a:r>
              <a:rPr dirty="0" sz="1400" spc="3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dirty="0" sz="1400" spc="3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forgotten</a:t>
            </a:r>
            <a:r>
              <a:rPr dirty="0" sz="1400" spc="3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334155"/>
                </a:solidFill>
                <a:latin typeface="Calibri"/>
                <a:cs typeface="Calibri"/>
              </a:rPr>
              <a:t>entries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dirty="0" sz="1400" spc="28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50">
                <a:solidFill>
                  <a:srgbClr val="334155"/>
                </a:solidFill>
                <a:latin typeface="Calibri"/>
                <a:cs typeface="Calibri"/>
              </a:rPr>
              <a:t>errors.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400">
              <a:latin typeface="Calibri"/>
              <a:cs typeface="Calibri"/>
            </a:endParaRPr>
          </a:p>
          <a:p>
            <a:pPr marL="22860" marR="91440">
              <a:lnSpc>
                <a:spcPct val="124400"/>
              </a:lnSpc>
              <a:spcBef>
                <a:spcPts val="5"/>
              </a:spcBef>
            </a:pPr>
            <a:r>
              <a:rPr dirty="0" sz="1400">
                <a:latin typeface="Arial Narrow"/>
                <a:cs typeface="Arial Narrow"/>
              </a:rPr>
              <a:t>Need</a:t>
            </a:r>
            <a:r>
              <a:rPr dirty="0" sz="1400" spc="70">
                <a:latin typeface="Arial Narrow"/>
                <a:cs typeface="Arial Narrow"/>
              </a:rPr>
              <a:t> </a:t>
            </a:r>
            <a:r>
              <a:rPr dirty="0" sz="1400" spc="110">
                <a:latin typeface="Arial Narrow"/>
                <a:cs typeface="Arial Narrow"/>
              </a:rPr>
              <a:t>Instant</a:t>
            </a:r>
            <a:r>
              <a:rPr dirty="0" sz="1400" spc="75">
                <a:latin typeface="Arial Narrow"/>
                <a:cs typeface="Arial Narrow"/>
              </a:rPr>
              <a:t> </a:t>
            </a:r>
            <a:r>
              <a:rPr dirty="0" sz="1400">
                <a:latin typeface="Arial Narrow"/>
                <a:cs typeface="Arial Narrow"/>
              </a:rPr>
              <a:t>Speed</a:t>
            </a:r>
            <a:r>
              <a:rPr dirty="0" sz="1400">
                <a:latin typeface="Calibri"/>
                <a:cs typeface="Calibri"/>
              </a:rPr>
              <a:t>:</a:t>
            </a:r>
            <a:r>
              <a:rPr dirty="0" sz="1400" spc="114"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334155"/>
                </a:solidFill>
                <a:latin typeface="Calibri"/>
                <a:cs typeface="Calibri"/>
              </a:rPr>
              <a:t>Users</a:t>
            </a:r>
            <a:r>
              <a:rPr dirty="0" sz="1400" spc="2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need</a:t>
            </a:r>
            <a:r>
              <a:rPr dirty="0" sz="14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70">
                <a:solidFill>
                  <a:srgbClr val="334155"/>
                </a:solidFill>
                <a:latin typeface="Calibri"/>
                <a:cs typeface="Calibri"/>
              </a:rPr>
              <a:t>a</a:t>
            </a:r>
            <a:r>
              <a:rPr dirty="0" sz="1400" spc="2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95">
                <a:solidFill>
                  <a:srgbClr val="334155"/>
                </a:solidFill>
                <a:latin typeface="Calibri"/>
                <a:cs typeface="Calibri"/>
              </a:rPr>
              <a:t>5-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second</a:t>
            </a:r>
            <a:r>
              <a:rPr dirty="0" sz="1400" spc="2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logging</a:t>
            </a:r>
            <a:r>
              <a:rPr dirty="0" sz="14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tool</a:t>
            </a:r>
            <a:r>
              <a:rPr dirty="0" sz="1400" spc="2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on</a:t>
            </a:r>
            <a:r>
              <a:rPr dirty="0" sz="1400" spc="2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mobile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&amp;</a:t>
            </a:r>
            <a:r>
              <a:rPr dirty="0" sz="1400" spc="24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desktop.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2249" y="5434406"/>
            <a:ext cx="6001385" cy="19050"/>
          </a:xfrm>
          <a:custGeom>
            <a:avLst/>
            <a:gdLst/>
            <a:ahLst/>
            <a:cxnLst/>
            <a:rect l="l" t="t" r="r" b="b"/>
            <a:pathLst>
              <a:path w="6001385" h="19050">
                <a:moveTo>
                  <a:pt x="6001004" y="0"/>
                </a:moveTo>
                <a:lnTo>
                  <a:pt x="0" y="0"/>
                </a:lnTo>
                <a:lnTo>
                  <a:pt x="0" y="19050"/>
                </a:lnTo>
                <a:lnTo>
                  <a:pt x="6001004" y="19050"/>
                </a:lnTo>
                <a:lnTo>
                  <a:pt x="6001004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2165" y="2000250"/>
            <a:ext cx="4903584" cy="3619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0740" y="2028825"/>
            <a:ext cx="4846434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0"/>
              <a:t>Project</a:t>
            </a:r>
            <a:r>
              <a:rPr dirty="0" spc="140"/>
              <a:t> </a:t>
            </a:r>
            <a:r>
              <a:rPr dirty="0" spc="-10" i="1">
                <a:solidFill>
                  <a:srgbClr val="FF3366"/>
                </a:solidFill>
                <a:latin typeface="Brush Script MT"/>
                <a:cs typeface="Brush Script MT"/>
              </a:rPr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641215" y="514350"/>
            <a:ext cx="1075055" cy="323850"/>
            <a:chOff x="10641215" y="514350"/>
            <a:chExt cx="1075055" cy="3238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41215" y="514350"/>
              <a:ext cx="1074539" cy="3238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60620" y="609600"/>
              <a:ext cx="125758" cy="13335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0" y="2000250"/>
            <a:ext cx="5993015" cy="3619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4825" y="2028825"/>
            <a:ext cx="5935865" cy="35623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799262" y="2386063"/>
            <a:ext cx="4929505" cy="857250"/>
            <a:chOff x="6799262" y="2386063"/>
            <a:chExt cx="4929505" cy="857250"/>
          </a:xfrm>
        </p:grpSpPr>
        <p:sp>
          <p:nvSpPr>
            <p:cNvPr id="8" name="object 8"/>
            <p:cNvSpPr/>
            <p:nvPr/>
          </p:nvSpPr>
          <p:spPr>
            <a:xfrm>
              <a:off x="6808787" y="2395588"/>
              <a:ext cx="4910455" cy="838200"/>
            </a:xfrm>
            <a:custGeom>
              <a:avLst/>
              <a:gdLst/>
              <a:ahLst/>
              <a:cxnLst/>
              <a:rect l="l" t="t" r="r" b="b"/>
              <a:pathLst>
                <a:path w="4910455" h="838200">
                  <a:moveTo>
                    <a:pt x="4757940" y="0"/>
                  </a:moveTo>
                  <a:lnTo>
                    <a:pt x="152400" y="0"/>
                  </a:lnTo>
                  <a:lnTo>
                    <a:pt x="104226" y="7769"/>
                  </a:lnTo>
                  <a:lnTo>
                    <a:pt x="62391" y="29405"/>
                  </a:lnTo>
                  <a:lnTo>
                    <a:pt x="29402" y="62396"/>
                  </a:lnTo>
                  <a:lnTo>
                    <a:pt x="7768" y="104231"/>
                  </a:lnTo>
                  <a:lnTo>
                    <a:pt x="0" y="152400"/>
                  </a:lnTo>
                  <a:lnTo>
                    <a:pt x="0" y="685698"/>
                  </a:lnTo>
                  <a:lnTo>
                    <a:pt x="7768" y="733866"/>
                  </a:lnTo>
                  <a:lnTo>
                    <a:pt x="29402" y="775701"/>
                  </a:lnTo>
                  <a:lnTo>
                    <a:pt x="62391" y="808692"/>
                  </a:lnTo>
                  <a:lnTo>
                    <a:pt x="104226" y="830328"/>
                  </a:lnTo>
                  <a:lnTo>
                    <a:pt x="152400" y="838098"/>
                  </a:lnTo>
                  <a:lnTo>
                    <a:pt x="4757940" y="838098"/>
                  </a:lnTo>
                  <a:lnTo>
                    <a:pt x="4806108" y="830328"/>
                  </a:lnTo>
                  <a:lnTo>
                    <a:pt x="4847943" y="808692"/>
                  </a:lnTo>
                  <a:lnTo>
                    <a:pt x="4880934" y="775701"/>
                  </a:lnTo>
                  <a:lnTo>
                    <a:pt x="4902570" y="733866"/>
                  </a:lnTo>
                  <a:lnTo>
                    <a:pt x="4910340" y="685698"/>
                  </a:lnTo>
                  <a:lnTo>
                    <a:pt x="4910340" y="152400"/>
                  </a:lnTo>
                  <a:lnTo>
                    <a:pt x="4902570" y="104231"/>
                  </a:lnTo>
                  <a:lnTo>
                    <a:pt x="4880934" y="62396"/>
                  </a:lnTo>
                  <a:lnTo>
                    <a:pt x="4847943" y="29405"/>
                  </a:lnTo>
                  <a:lnTo>
                    <a:pt x="4806108" y="7769"/>
                  </a:lnTo>
                  <a:lnTo>
                    <a:pt x="47579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08787" y="2395588"/>
              <a:ext cx="4910455" cy="838200"/>
            </a:xfrm>
            <a:custGeom>
              <a:avLst/>
              <a:gdLst/>
              <a:ahLst/>
              <a:cxnLst/>
              <a:rect l="l" t="t" r="r" b="b"/>
              <a:pathLst>
                <a:path w="4910455" h="838200">
                  <a:moveTo>
                    <a:pt x="152400" y="0"/>
                  </a:moveTo>
                  <a:lnTo>
                    <a:pt x="4757940" y="0"/>
                  </a:lnTo>
                  <a:lnTo>
                    <a:pt x="4806108" y="7769"/>
                  </a:lnTo>
                  <a:lnTo>
                    <a:pt x="4847943" y="29404"/>
                  </a:lnTo>
                  <a:lnTo>
                    <a:pt x="4880934" y="62394"/>
                  </a:lnTo>
                  <a:lnTo>
                    <a:pt x="4902570" y="104229"/>
                  </a:lnTo>
                  <a:lnTo>
                    <a:pt x="4910340" y="152400"/>
                  </a:lnTo>
                  <a:lnTo>
                    <a:pt x="4910340" y="685698"/>
                  </a:lnTo>
                  <a:lnTo>
                    <a:pt x="4902570" y="733868"/>
                  </a:lnTo>
                  <a:lnTo>
                    <a:pt x="4880934" y="775703"/>
                  </a:lnTo>
                  <a:lnTo>
                    <a:pt x="4847943" y="808693"/>
                  </a:lnTo>
                  <a:lnTo>
                    <a:pt x="4806108" y="830328"/>
                  </a:lnTo>
                  <a:lnTo>
                    <a:pt x="4757940" y="838098"/>
                  </a:lnTo>
                  <a:lnTo>
                    <a:pt x="152400" y="838098"/>
                  </a:lnTo>
                  <a:lnTo>
                    <a:pt x="104229" y="830328"/>
                  </a:lnTo>
                  <a:lnTo>
                    <a:pt x="62394" y="808693"/>
                  </a:lnTo>
                  <a:lnTo>
                    <a:pt x="29404" y="775703"/>
                  </a:lnTo>
                  <a:lnTo>
                    <a:pt x="7769" y="733868"/>
                  </a:lnTo>
                  <a:lnTo>
                    <a:pt x="0" y="685698"/>
                  </a:lnTo>
                  <a:lnTo>
                    <a:pt x="0" y="152400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400" y="0"/>
                  </a:lnTo>
                  <a:close/>
                </a:path>
              </a:pathLst>
            </a:custGeom>
            <a:ln w="19049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20738" y="2680677"/>
            <a:ext cx="161925" cy="219075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6808787" y="3214636"/>
            <a:ext cx="4910455" cy="19050"/>
          </a:xfrm>
          <a:custGeom>
            <a:avLst/>
            <a:gdLst/>
            <a:ahLst/>
            <a:cxnLst/>
            <a:rect l="l" t="t" r="r" b="b"/>
            <a:pathLst>
              <a:path w="4910455" h="19050">
                <a:moveTo>
                  <a:pt x="4910340" y="0"/>
                </a:moveTo>
                <a:lnTo>
                  <a:pt x="0" y="0"/>
                </a:lnTo>
                <a:lnTo>
                  <a:pt x="0" y="19050"/>
                </a:lnTo>
                <a:lnTo>
                  <a:pt x="4910340" y="19050"/>
                </a:lnTo>
                <a:lnTo>
                  <a:pt x="4910340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6797319" y="3301936"/>
            <a:ext cx="4933315" cy="883285"/>
            <a:chOff x="6797319" y="3301936"/>
            <a:chExt cx="4933315" cy="883285"/>
          </a:xfrm>
        </p:grpSpPr>
        <p:sp>
          <p:nvSpPr>
            <p:cNvPr id="11" name="object 11"/>
            <p:cNvSpPr/>
            <p:nvPr/>
          </p:nvSpPr>
          <p:spPr>
            <a:xfrm>
              <a:off x="6806844" y="3311461"/>
              <a:ext cx="4914265" cy="864235"/>
            </a:xfrm>
            <a:custGeom>
              <a:avLst/>
              <a:gdLst/>
              <a:ahLst/>
              <a:cxnLst/>
              <a:rect l="l" t="t" r="r" b="b"/>
              <a:pathLst>
                <a:path w="4914265" h="864235">
                  <a:moveTo>
                    <a:pt x="4761826" y="0"/>
                  </a:moveTo>
                  <a:lnTo>
                    <a:pt x="152400" y="0"/>
                  </a:lnTo>
                  <a:lnTo>
                    <a:pt x="104231" y="7768"/>
                  </a:lnTo>
                  <a:lnTo>
                    <a:pt x="62396" y="29402"/>
                  </a:lnTo>
                  <a:lnTo>
                    <a:pt x="29405" y="62391"/>
                  </a:lnTo>
                  <a:lnTo>
                    <a:pt x="7769" y="104226"/>
                  </a:lnTo>
                  <a:lnTo>
                    <a:pt x="0" y="152400"/>
                  </a:lnTo>
                  <a:lnTo>
                    <a:pt x="0" y="711326"/>
                  </a:lnTo>
                  <a:lnTo>
                    <a:pt x="7769" y="759495"/>
                  </a:lnTo>
                  <a:lnTo>
                    <a:pt x="29405" y="801330"/>
                  </a:lnTo>
                  <a:lnTo>
                    <a:pt x="62396" y="834321"/>
                  </a:lnTo>
                  <a:lnTo>
                    <a:pt x="104231" y="855957"/>
                  </a:lnTo>
                  <a:lnTo>
                    <a:pt x="152400" y="863726"/>
                  </a:lnTo>
                  <a:lnTo>
                    <a:pt x="4761826" y="863726"/>
                  </a:lnTo>
                  <a:lnTo>
                    <a:pt x="4809993" y="855957"/>
                  </a:lnTo>
                  <a:lnTo>
                    <a:pt x="4851825" y="834321"/>
                  </a:lnTo>
                  <a:lnTo>
                    <a:pt x="4884812" y="801330"/>
                  </a:lnTo>
                  <a:lnTo>
                    <a:pt x="4906445" y="759495"/>
                  </a:lnTo>
                  <a:lnTo>
                    <a:pt x="4914214" y="711326"/>
                  </a:lnTo>
                  <a:lnTo>
                    <a:pt x="4914214" y="152400"/>
                  </a:lnTo>
                  <a:lnTo>
                    <a:pt x="4906445" y="104226"/>
                  </a:lnTo>
                  <a:lnTo>
                    <a:pt x="4884812" y="62391"/>
                  </a:lnTo>
                  <a:lnTo>
                    <a:pt x="4851825" y="29402"/>
                  </a:lnTo>
                  <a:lnTo>
                    <a:pt x="4809993" y="7768"/>
                  </a:lnTo>
                  <a:lnTo>
                    <a:pt x="4761826" y="0"/>
                  </a:lnTo>
                  <a:close/>
                </a:path>
              </a:pathLst>
            </a:custGeom>
            <a:solidFill>
              <a:srgbClr val="F8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806844" y="3311461"/>
              <a:ext cx="4914265" cy="864235"/>
            </a:xfrm>
            <a:custGeom>
              <a:avLst/>
              <a:gdLst/>
              <a:ahLst/>
              <a:cxnLst/>
              <a:rect l="l" t="t" r="r" b="b"/>
              <a:pathLst>
                <a:path w="4914265" h="864235">
                  <a:moveTo>
                    <a:pt x="152394" y="0"/>
                  </a:moveTo>
                  <a:lnTo>
                    <a:pt x="4761814" y="0"/>
                  </a:lnTo>
                  <a:lnTo>
                    <a:pt x="4809987" y="7769"/>
                  </a:lnTo>
                  <a:lnTo>
                    <a:pt x="4851822" y="29403"/>
                  </a:lnTo>
                  <a:lnTo>
                    <a:pt x="4884811" y="62392"/>
                  </a:lnTo>
                  <a:lnTo>
                    <a:pt x="4906445" y="104226"/>
                  </a:lnTo>
                  <a:lnTo>
                    <a:pt x="4914214" y="152394"/>
                  </a:lnTo>
                  <a:lnTo>
                    <a:pt x="4914214" y="711328"/>
                  </a:lnTo>
                  <a:lnTo>
                    <a:pt x="4906445" y="759497"/>
                  </a:lnTo>
                  <a:lnTo>
                    <a:pt x="4884811" y="801331"/>
                  </a:lnTo>
                  <a:lnTo>
                    <a:pt x="4851822" y="834320"/>
                  </a:lnTo>
                  <a:lnTo>
                    <a:pt x="4809987" y="855955"/>
                  </a:lnTo>
                  <a:lnTo>
                    <a:pt x="4761814" y="863724"/>
                  </a:lnTo>
                  <a:lnTo>
                    <a:pt x="152394" y="863724"/>
                  </a:lnTo>
                  <a:lnTo>
                    <a:pt x="104226" y="855955"/>
                  </a:lnTo>
                  <a:lnTo>
                    <a:pt x="62392" y="834320"/>
                  </a:lnTo>
                  <a:lnTo>
                    <a:pt x="29403" y="801331"/>
                  </a:lnTo>
                  <a:lnTo>
                    <a:pt x="7769" y="759497"/>
                  </a:lnTo>
                  <a:lnTo>
                    <a:pt x="0" y="711328"/>
                  </a:lnTo>
                  <a:lnTo>
                    <a:pt x="0" y="152394"/>
                  </a:lnTo>
                  <a:lnTo>
                    <a:pt x="7769" y="104226"/>
                  </a:lnTo>
                  <a:lnTo>
                    <a:pt x="29403" y="62392"/>
                  </a:lnTo>
                  <a:lnTo>
                    <a:pt x="62392" y="29403"/>
                  </a:lnTo>
                  <a:lnTo>
                    <a:pt x="104226" y="7769"/>
                  </a:lnTo>
                  <a:lnTo>
                    <a:pt x="152394" y="0"/>
                  </a:lnTo>
                  <a:close/>
                </a:path>
              </a:pathLst>
            </a:custGeom>
            <a:ln w="19050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96925" y="3633787"/>
            <a:ext cx="209550" cy="219075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6806844" y="4156138"/>
            <a:ext cx="4914265" cy="19050"/>
          </a:xfrm>
          <a:custGeom>
            <a:avLst/>
            <a:gdLst/>
            <a:ahLst/>
            <a:cxnLst/>
            <a:rect l="l" t="t" r="r" b="b"/>
            <a:pathLst>
              <a:path w="4914265" h="19050">
                <a:moveTo>
                  <a:pt x="4914214" y="0"/>
                </a:moveTo>
                <a:lnTo>
                  <a:pt x="0" y="0"/>
                </a:lnTo>
                <a:lnTo>
                  <a:pt x="0" y="19050"/>
                </a:lnTo>
                <a:lnTo>
                  <a:pt x="4914214" y="19050"/>
                </a:lnTo>
                <a:lnTo>
                  <a:pt x="4914214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6798602" y="4239158"/>
            <a:ext cx="4930775" cy="866140"/>
            <a:chOff x="6798602" y="4239158"/>
            <a:chExt cx="4930775" cy="866140"/>
          </a:xfrm>
        </p:grpSpPr>
        <p:sp>
          <p:nvSpPr>
            <p:cNvPr id="14" name="object 14"/>
            <p:cNvSpPr/>
            <p:nvPr/>
          </p:nvSpPr>
          <p:spPr>
            <a:xfrm>
              <a:off x="6808127" y="4248683"/>
              <a:ext cx="4911725" cy="847090"/>
            </a:xfrm>
            <a:custGeom>
              <a:avLst/>
              <a:gdLst/>
              <a:ahLst/>
              <a:cxnLst/>
              <a:rect l="l" t="t" r="r" b="b"/>
              <a:pathLst>
                <a:path w="4911725" h="847089">
                  <a:moveTo>
                    <a:pt x="4759261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399"/>
                  </a:lnTo>
                  <a:lnTo>
                    <a:pt x="0" y="694258"/>
                  </a:lnTo>
                  <a:lnTo>
                    <a:pt x="7769" y="742425"/>
                  </a:lnTo>
                  <a:lnTo>
                    <a:pt x="29405" y="784256"/>
                  </a:lnTo>
                  <a:lnTo>
                    <a:pt x="62396" y="817244"/>
                  </a:lnTo>
                  <a:lnTo>
                    <a:pt x="104231" y="838876"/>
                  </a:lnTo>
                  <a:lnTo>
                    <a:pt x="152400" y="846645"/>
                  </a:lnTo>
                  <a:lnTo>
                    <a:pt x="4759261" y="846645"/>
                  </a:lnTo>
                  <a:lnTo>
                    <a:pt x="4807428" y="838876"/>
                  </a:lnTo>
                  <a:lnTo>
                    <a:pt x="4849260" y="817244"/>
                  </a:lnTo>
                  <a:lnTo>
                    <a:pt x="4882247" y="784256"/>
                  </a:lnTo>
                  <a:lnTo>
                    <a:pt x="4903880" y="742425"/>
                  </a:lnTo>
                  <a:lnTo>
                    <a:pt x="4911648" y="694258"/>
                  </a:lnTo>
                  <a:lnTo>
                    <a:pt x="4911648" y="152399"/>
                  </a:lnTo>
                  <a:lnTo>
                    <a:pt x="4903880" y="104231"/>
                  </a:lnTo>
                  <a:lnTo>
                    <a:pt x="4882247" y="62396"/>
                  </a:lnTo>
                  <a:lnTo>
                    <a:pt x="4849260" y="29405"/>
                  </a:lnTo>
                  <a:lnTo>
                    <a:pt x="4807428" y="7769"/>
                  </a:lnTo>
                  <a:lnTo>
                    <a:pt x="47592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808127" y="4248683"/>
              <a:ext cx="4911725" cy="847090"/>
            </a:xfrm>
            <a:custGeom>
              <a:avLst/>
              <a:gdLst/>
              <a:ahLst/>
              <a:cxnLst/>
              <a:rect l="l" t="t" r="r" b="b"/>
              <a:pathLst>
                <a:path w="4911725" h="847089">
                  <a:moveTo>
                    <a:pt x="152396" y="0"/>
                  </a:moveTo>
                  <a:lnTo>
                    <a:pt x="4759248" y="0"/>
                  </a:lnTo>
                  <a:lnTo>
                    <a:pt x="4807421" y="7769"/>
                  </a:lnTo>
                  <a:lnTo>
                    <a:pt x="4849257" y="29403"/>
                  </a:lnTo>
                  <a:lnTo>
                    <a:pt x="4882246" y="62392"/>
                  </a:lnTo>
                  <a:lnTo>
                    <a:pt x="4903880" y="104227"/>
                  </a:lnTo>
                  <a:lnTo>
                    <a:pt x="4911648" y="152396"/>
                  </a:lnTo>
                  <a:lnTo>
                    <a:pt x="4911648" y="694246"/>
                  </a:lnTo>
                  <a:lnTo>
                    <a:pt x="4903880" y="742415"/>
                  </a:lnTo>
                  <a:lnTo>
                    <a:pt x="4882246" y="784250"/>
                  </a:lnTo>
                  <a:lnTo>
                    <a:pt x="4849257" y="817239"/>
                  </a:lnTo>
                  <a:lnTo>
                    <a:pt x="4807421" y="838873"/>
                  </a:lnTo>
                  <a:lnTo>
                    <a:pt x="4759248" y="846642"/>
                  </a:lnTo>
                  <a:lnTo>
                    <a:pt x="152396" y="846642"/>
                  </a:lnTo>
                  <a:lnTo>
                    <a:pt x="104227" y="838873"/>
                  </a:lnTo>
                  <a:lnTo>
                    <a:pt x="62392" y="817239"/>
                  </a:lnTo>
                  <a:lnTo>
                    <a:pt x="29403" y="784250"/>
                  </a:lnTo>
                  <a:lnTo>
                    <a:pt x="7769" y="742415"/>
                  </a:lnTo>
                  <a:lnTo>
                    <a:pt x="0" y="694246"/>
                  </a:lnTo>
                  <a:lnTo>
                    <a:pt x="0" y="152396"/>
                  </a:lnTo>
                  <a:lnTo>
                    <a:pt x="7769" y="104227"/>
                  </a:lnTo>
                  <a:lnTo>
                    <a:pt x="29403" y="62392"/>
                  </a:lnTo>
                  <a:lnTo>
                    <a:pt x="62392" y="29403"/>
                  </a:lnTo>
                  <a:lnTo>
                    <a:pt x="104227" y="7769"/>
                  </a:lnTo>
                  <a:lnTo>
                    <a:pt x="152396" y="0"/>
                  </a:lnTo>
                  <a:close/>
                </a:path>
              </a:pathLst>
            </a:custGeom>
            <a:ln w="19049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20738" y="4562475"/>
            <a:ext cx="161925" cy="21907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320978" y="2536469"/>
            <a:ext cx="3902075" cy="2336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06705">
              <a:lnSpc>
                <a:spcPct val="107100"/>
              </a:lnSpc>
              <a:spcBef>
                <a:spcPts val="100"/>
              </a:spcBef>
            </a:pPr>
            <a:r>
              <a:rPr dirty="0" sz="1400" spc="-95" b="1">
                <a:solidFill>
                  <a:srgbClr val="0F172A"/>
                </a:solidFill>
                <a:latin typeface="Arial"/>
                <a:cs typeface="Arial"/>
              </a:rPr>
              <a:t>Quick</a:t>
            </a:r>
            <a:r>
              <a:rPr dirty="0" sz="1400" spc="1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400" spc="-114" b="1">
                <a:solidFill>
                  <a:srgbClr val="0F172A"/>
                </a:solidFill>
                <a:latin typeface="Arial"/>
                <a:cs typeface="Arial"/>
              </a:rPr>
              <a:t>Logging:</a:t>
            </a:r>
            <a:r>
              <a:rPr dirty="0" sz="1400" spc="7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334155"/>
                </a:solidFill>
                <a:latin typeface="Calibri"/>
                <a:cs typeface="Calibri"/>
              </a:rPr>
              <a:t>Intuitive</a:t>
            </a:r>
            <a:r>
              <a:rPr dirty="0" sz="1400" spc="30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web</a:t>
            </a:r>
            <a:r>
              <a:rPr dirty="0" sz="1400" spc="29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forms</a:t>
            </a:r>
            <a:r>
              <a:rPr dirty="0" sz="1400" spc="30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dirty="0" sz="1400" spc="30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record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income</a:t>
            </a:r>
            <a:r>
              <a:rPr dirty="0" sz="1400" spc="32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&amp;</a:t>
            </a:r>
            <a:r>
              <a:rPr dirty="0" sz="1400" spc="32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expenses</a:t>
            </a:r>
            <a:r>
              <a:rPr dirty="0" sz="1400" spc="32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instantly.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400">
              <a:latin typeface="Calibri"/>
              <a:cs typeface="Calibri"/>
            </a:endParaRPr>
          </a:p>
          <a:p>
            <a:pPr marL="35560" marR="142875">
              <a:lnSpc>
                <a:spcPct val="107100"/>
              </a:lnSpc>
            </a:pPr>
            <a:r>
              <a:rPr dirty="0" sz="1400" spc="-80" b="1">
                <a:solidFill>
                  <a:srgbClr val="0F172A"/>
                </a:solidFill>
                <a:latin typeface="Arial"/>
                <a:cs typeface="Arial"/>
              </a:rPr>
              <a:t>Visual</a:t>
            </a:r>
            <a:r>
              <a:rPr dirty="0" sz="1400" spc="1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400" spc="-114" b="1">
                <a:solidFill>
                  <a:srgbClr val="0F172A"/>
                </a:solidFill>
                <a:latin typeface="Arial"/>
                <a:cs typeface="Arial"/>
              </a:rPr>
              <a:t>Dashboards:</a:t>
            </a:r>
            <a:r>
              <a:rPr dirty="0" sz="1400" spc="6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Clean</a:t>
            </a:r>
            <a:r>
              <a:rPr dirty="0" sz="1400" spc="29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334155"/>
                </a:solidFill>
                <a:latin typeface="Calibri"/>
                <a:cs typeface="Calibri"/>
              </a:rPr>
              <a:t>graphical</a:t>
            </a:r>
            <a:r>
              <a:rPr dirty="0" sz="1400" spc="29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80">
                <a:solidFill>
                  <a:srgbClr val="334155"/>
                </a:solidFill>
                <a:latin typeface="Calibri"/>
                <a:cs typeface="Calibri"/>
              </a:rPr>
              <a:t>charts</a:t>
            </a:r>
            <a:r>
              <a:rPr dirty="0" sz="1400" spc="29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55">
                <a:solidFill>
                  <a:srgbClr val="334155"/>
                </a:solidFill>
                <a:latin typeface="Calibri"/>
                <a:cs typeface="Calibri"/>
              </a:rPr>
              <a:t>that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reveal</a:t>
            </a:r>
            <a:r>
              <a:rPr dirty="0" sz="1400" spc="3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65">
                <a:solidFill>
                  <a:srgbClr val="334155"/>
                </a:solidFill>
                <a:latin typeface="Calibri"/>
                <a:cs typeface="Calibri"/>
              </a:rPr>
              <a:t>exact</a:t>
            </a:r>
            <a:r>
              <a:rPr dirty="0" sz="1400" spc="3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spending</a:t>
            </a:r>
            <a:r>
              <a:rPr dirty="0" sz="1400" spc="3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habits.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7100"/>
              </a:lnSpc>
            </a:pPr>
            <a:r>
              <a:rPr dirty="0" sz="1400" spc="-70" b="1">
                <a:solidFill>
                  <a:srgbClr val="0F172A"/>
                </a:solidFill>
                <a:latin typeface="Arial"/>
                <a:cs typeface="Arial"/>
              </a:rPr>
              <a:t>Real-</a:t>
            </a:r>
            <a:r>
              <a:rPr dirty="0" sz="1400" spc="-65" b="1">
                <a:solidFill>
                  <a:srgbClr val="0F172A"/>
                </a:solidFill>
                <a:latin typeface="Arial"/>
                <a:cs typeface="Arial"/>
              </a:rPr>
              <a:t>Time</a:t>
            </a:r>
            <a:r>
              <a:rPr dirty="0" sz="1400" spc="7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400" spc="-95" b="1">
                <a:solidFill>
                  <a:srgbClr val="0F172A"/>
                </a:solidFill>
                <a:latin typeface="Arial"/>
                <a:cs typeface="Arial"/>
              </a:rPr>
              <a:t>Balance:</a:t>
            </a:r>
            <a:r>
              <a:rPr dirty="0" sz="1400" spc="7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334155"/>
                </a:solidFill>
                <a:latin typeface="Calibri"/>
                <a:cs typeface="Calibri"/>
              </a:rPr>
              <a:t>Auto-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calculate</a:t>
            </a:r>
            <a:r>
              <a:rPr dirty="0" sz="1400" spc="38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net</a:t>
            </a:r>
            <a:r>
              <a:rPr dirty="0" sz="1400" spc="38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balance</a:t>
            </a:r>
            <a:r>
              <a:rPr dirty="0" sz="1400" spc="38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334155"/>
                </a:solidFill>
                <a:latin typeface="Calibri"/>
                <a:cs typeface="Calibri"/>
              </a:rPr>
              <a:t>to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prevent</a:t>
            </a:r>
            <a:r>
              <a:rPr dirty="0" sz="1400" spc="30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50">
                <a:solidFill>
                  <a:srgbClr val="334155"/>
                </a:solidFill>
                <a:latin typeface="Calibri"/>
                <a:cs typeface="Calibri"/>
              </a:rPr>
              <a:t>budget</a:t>
            </a:r>
            <a:r>
              <a:rPr dirty="0" sz="1400" spc="30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334155"/>
                </a:solidFill>
                <a:latin typeface="Calibri"/>
                <a:cs typeface="Calibri"/>
              </a:rPr>
              <a:t>overdrafts.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08127" y="5076278"/>
            <a:ext cx="4911725" cy="19050"/>
          </a:xfrm>
          <a:custGeom>
            <a:avLst/>
            <a:gdLst/>
            <a:ahLst/>
            <a:cxnLst/>
            <a:rect l="l" t="t" r="r" b="b"/>
            <a:pathLst>
              <a:path w="4911725" h="19050">
                <a:moveTo>
                  <a:pt x="4911648" y="0"/>
                </a:moveTo>
                <a:lnTo>
                  <a:pt x="0" y="0"/>
                </a:lnTo>
                <a:lnTo>
                  <a:pt x="0" y="19050"/>
                </a:lnTo>
                <a:lnTo>
                  <a:pt x="4911648" y="19050"/>
                </a:lnTo>
                <a:lnTo>
                  <a:pt x="4911648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5"/>
              <a:t>Key</a:t>
            </a:r>
            <a:r>
              <a:rPr dirty="0" spc="150"/>
              <a:t> </a:t>
            </a:r>
            <a:r>
              <a:rPr dirty="0" spc="-10" i="1">
                <a:solidFill>
                  <a:srgbClr val="FF3366"/>
                </a:solidFill>
                <a:latin typeface="Brush Script MT"/>
                <a:cs typeface="Brush Script MT"/>
              </a:rPr>
              <a:t>Features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0397426" y="514350"/>
            <a:ext cx="1318895" cy="323850"/>
            <a:chOff x="10397426" y="514350"/>
            <a:chExt cx="1318895" cy="32385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97426" y="514350"/>
              <a:ext cx="1318323" cy="3238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02197" y="609600"/>
              <a:ext cx="135758" cy="133350"/>
            </a:xfrm>
            <a:prstGeom prst="rect">
              <a:avLst/>
            </a:prstGeom>
          </p:spPr>
        </p:pic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199" y="2762973"/>
            <a:ext cx="2723388" cy="2094052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88536" y="3033713"/>
            <a:ext cx="447675" cy="447675"/>
            <a:chOff x="688536" y="3033713"/>
            <a:chExt cx="447675" cy="44767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8536" y="3033713"/>
              <a:ext cx="447229" cy="44722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5205" y="3150376"/>
              <a:ext cx="213892" cy="213892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573999" y="3729037"/>
            <a:ext cx="485775" cy="161925"/>
            <a:chOff x="1573999" y="3729037"/>
            <a:chExt cx="485775" cy="161925"/>
          </a:xfrm>
        </p:grpSpPr>
        <p:sp>
          <p:nvSpPr>
            <p:cNvPr id="10" name="object 10"/>
            <p:cNvSpPr/>
            <p:nvPr/>
          </p:nvSpPr>
          <p:spPr>
            <a:xfrm>
              <a:off x="1578762" y="3733800"/>
              <a:ext cx="476250" cy="152400"/>
            </a:xfrm>
            <a:custGeom>
              <a:avLst/>
              <a:gdLst/>
              <a:ahLst/>
              <a:cxnLst/>
              <a:rect l="l" t="t" r="r" b="b"/>
              <a:pathLst>
                <a:path w="476250" h="152400">
                  <a:moveTo>
                    <a:pt x="47625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476250" y="152400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78762" y="3733800"/>
              <a:ext cx="476250" cy="152400"/>
            </a:xfrm>
            <a:custGeom>
              <a:avLst/>
              <a:gdLst/>
              <a:ahLst/>
              <a:cxnLst/>
              <a:rect l="l" t="t" r="r" b="b"/>
              <a:pathLst>
                <a:path w="476250" h="152400">
                  <a:moveTo>
                    <a:pt x="0" y="0"/>
                  </a:moveTo>
                  <a:lnTo>
                    <a:pt x="476250" y="0"/>
                  </a:lnTo>
                  <a:lnTo>
                    <a:pt x="47625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1397" y="2767583"/>
            <a:ext cx="2716453" cy="2084832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563911" y="3000136"/>
            <a:ext cx="445770" cy="445770"/>
            <a:chOff x="3563911" y="3000136"/>
            <a:chExt cx="445770" cy="44577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3911" y="3000136"/>
              <a:ext cx="445729" cy="44572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80180" y="3116409"/>
              <a:ext cx="213174" cy="21317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87805" y="3547935"/>
            <a:ext cx="14846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>
                <a:solidFill>
                  <a:srgbClr val="0F172A"/>
                </a:solidFill>
                <a:latin typeface="Arial"/>
                <a:cs typeface="Arial"/>
              </a:rPr>
              <a:t>Smart</a:t>
            </a:r>
            <a:r>
              <a:rPr dirty="0" sz="1500" spc="-6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95" b="1">
                <a:solidFill>
                  <a:srgbClr val="0F172A"/>
                </a:solidFill>
                <a:latin typeface="Arial"/>
                <a:cs typeface="Arial"/>
              </a:rPr>
              <a:t>Dashboard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4588" y="3866057"/>
            <a:ext cx="214947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1300" spc="65">
                <a:solidFill>
                  <a:srgbClr val="334155"/>
                </a:solidFill>
                <a:latin typeface="Calibri"/>
                <a:cs typeface="Calibri"/>
              </a:rPr>
              <a:t>High-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level</a:t>
            </a:r>
            <a:r>
              <a:rPr dirty="0" sz="1300" spc="31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view</a:t>
            </a:r>
            <a:r>
              <a:rPr dirty="0" sz="1300" spc="31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dirty="0" sz="1300" spc="31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50">
                <a:solidFill>
                  <a:srgbClr val="334155"/>
                </a:solidFill>
                <a:latin typeface="Calibri"/>
                <a:cs typeface="Calibri"/>
              </a:rPr>
              <a:t>current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balance,</a:t>
            </a:r>
            <a:r>
              <a:rPr dirty="0" sz="1300" spc="3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total</a:t>
            </a:r>
            <a:r>
              <a:rPr dirty="0" sz="1300" spc="3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monthly</a:t>
            </a:r>
            <a:r>
              <a:rPr dirty="0" sz="1300" spc="3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34155"/>
                </a:solidFill>
                <a:latin typeface="Calibri"/>
                <a:cs typeface="Calibri"/>
              </a:rPr>
              <a:t>spent,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dirty="0" sz="1300" spc="38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recent</a:t>
            </a:r>
            <a:r>
              <a:rPr dirty="0" sz="1300" spc="38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34155"/>
                </a:solidFill>
                <a:latin typeface="Calibri"/>
                <a:cs typeface="Calibri"/>
              </a:rPr>
              <a:t>transactions.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31260" y="3551796"/>
            <a:ext cx="1944370" cy="10299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0F172A"/>
                </a:solidFill>
                <a:latin typeface="Arial"/>
                <a:cs typeface="Arial"/>
              </a:rPr>
              <a:t>Category</a:t>
            </a:r>
            <a:r>
              <a:rPr dirty="0" sz="1500" spc="3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0F172A"/>
                </a:solidFill>
                <a:latin typeface="Arial"/>
                <a:cs typeface="Arial"/>
              </a:rPr>
              <a:t>Tags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15399"/>
              </a:lnSpc>
              <a:spcBef>
                <a:spcPts val="705"/>
              </a:spcBef>
            </a:pPr>
            <a:r>
              <a:rPr dirty="0" sz="1300" spc="55">
                <a:solidFill>
                  <a:srgbClr val="334155"/>
                </a:solidFill>
                <a:latin typeface="Calibri"/>
                <a:cs typeface="Calibri"/>
              </a:rPr>
              <a:t>Organize</a:t>
            </a:r>
            <a:r>
              <a:rPr dirty="0" sz="1300" spc="30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spending</a:t>
            </a:r>
            <a:r>
              <a:rPr dirty="0" sz="1300" spc="30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334155"/>
                </a:solidFill>
                <a:latin typeface="Calibri"/>
                <a:cs typeface="Calibri"/>
              </a:rPr>
              <a:t>into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Groceries,</a:t>
            </a:r>
            <a:r>
              <a:rPr dirty="0" sz="1300" spc="130">
                <a:solidFill>
                  <a:srgbClr val="334155"/>
                </a:solidFill>
                <a:latin typeface="Calibri"/>
                <a:cs typeface="Calibri"/>
              </a:rPr>
              <a:t> 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Party,</a:t>
            </a:r>
            <a:r>
              <a:rPr dirty="0" sz="1300" spc="135">
                <a:solidFill>
                  <a:srgbClr val="334155"/>
                </a:solidFill>
                <a:latin typeface="Calibri"/>
                <a:cs typeface="Calibri"/>
              </a:rPr>
              <a:t>  </a:t>
            </a:r>
            <a:r>
              <a:rPr dirty="0" sz="1300" spc="-10">
                <a:solidFill>
                  <a:srgbClr val="334155"/>
                </a:solidFill>
                <a:latin typeface="Calibri"/>
                <a:cs typeface="Calibri"/>
              </a:rPr>
              <a:t>Utilities,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dirty="0" sz="1300" spc="28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Custom</a:t>
            </a:r>
            <a:r>
              <a:rPr dirty="0" sz="1300" spc="15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334155"/>
                </a:solidFill>
                <a:latin typeface="Calibri"/>
                <a:cs typeface="Calibri"/>
              </a:rPr>
              <a:t>Tags.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7628" y="2772206"/>
            <a:ext cx="2709481" cy="2075586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6399390" y="3028908"/>
            <a:ext cx="444500" cy="444500"/>
            <a:chOff x="6399390" y="3028908"/>
            <a:chExt cx="444500" cy="444500"/>
          </a:xfrm>
        </p:grpSpPr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99390" y="3028908"/>
              <a:ext cx="444224" cy="4442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00990" y="3144593"/>
              <a:ext cx="241026" cy="21285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394678" y="3555669"/>
            <a:ext cx="2212975" cy="10299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40" b="1">
                <a:solidFill>
                  <a:srgbClr val="0F172A"/>
                </a:solidFill>
                <a:latin typeface="Arial"/>
                <a:cs typeface="Arial"/>
              </a:rPr>
              <a:t>Pie</a:t>
            </a:r>
            <a:r>
              <a:rPr dirty="0" sz="1500" spc="-2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F172A"/>
                </a:solidFill>
                <a:latin typeface="Arial"/>
                <a:cs typeface="Arial"/>
              </a:rPr>
              <a:t>Analytics</a:t>
            </a:r>
            <a:endParaRPr sz="1500">
              <a:latin typeface="Arial"/>
              <a:cs typeface="Arial"/>
            </a:endParaRPr>
          </a:p>
          <a:p>
            <a:pPr marL="17145" marR="5080">
              <a:lnSpc>
                <a:spcPct val="115399"/>
              </a:lnSpc>
              <a:spcBef>
                <a:spcPts val="705"/>
              </a:spcBef>
            </a:pPr>
            <a:r>
              <a:rPr dirty="0" sz="1300" spc="55">
                <a:solidFill>
                  <a:srgbClr val="334155"/>
                </a:solidFill>
                <a:latin typeface="Calibri"/>
                <a:cs typeface="Calibri"/>
              </a:rPr>
              <a:t>Interactive</a:t>
            </a:r>
            <a:r>
              <a:rPr dirty="0" sz="1300" spc="34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proportion</a:t>
            </a:r>
            <a:r>
              <a:rPr dirty="0" sz="1300" spc="34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65">
                <a:solidFill>
                  <a:srgbClr val="334155"/>
                </a:solidFill>
                <a:latin typeface="Calibri"/>
                <a:cs typeface="Calibri"/>
              </a:rPr>
              <a:t>charts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showing</a:t>
            </a:r>
            <a:r>
              <a:rPr dirty="0" sz="1300" spc="32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your</a:t>
            </a:r>
            <a:r>
              <a:rPr dirty="0" sz="1300" spc="32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60">
                <a:solidFill>
                  <a:srgbClr val="334155"/>
                </a:solidFill>
                <a:latin typeface="Calibri"/>
                <a:cs typeface="Calibri"/>
              </a:rPr>
              <a:t>biggest</a:t>
            </a:r>
            <a:r>
              <a:rPr dirty="0" sz="1300" spc="32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334155"/>
                </a:solidFill>
                <a:latin typeface="Calibri"/>
                <a:cs typeface="Calibri"/>
              </a:rPr>
              <a:t>money </a:t>
            </a:r>
            <a:r>
              <a:rPr dirty="0" sz="1300" spc="-10">
                <a:solidFill>
                  <a:srgbClr val="334155"/>
                </a:solidFill>
                <a:latin typeface="Calibri"/>
                <a:cs typeface="Calibri"/>
              </a:rPr>
              <a:t>drains.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13405" y="2762973"/>
            <a:ext cx="2723387" cy="2094052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9270682" y="2996312"/>
            <a:ext cx="447675" cy="447675"/>
            <a:chOff x="9270682" y="2996312"/>
            <a:chExt cx="447675" cy="447675"/>
          </a:xfrm>
        </p:grpSpPr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70682" y="2996312"/>
              <a:ext cx="447229" cy="44722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87357" y="3112974"/>
              <a:ext cx="213892" cy="213892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9234055" y="3547935"/>
            <a:ext cx="2059939" cy="1029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dirty="0" sz="1500" spc="-30" b="1">
                <a:solidFill>
                  <a:srgbClr val="0F172A"/>
                </a:solidFill>
                <a:latin typeface="Arial"/>
                <a:cs typeface="Arial"/>
              </a:rPr>
              <a:t>Instant</a:t>
            </a:r>
            <a:r>
              <a:rPr dirty="0" sz="1500" spc="-6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F172A"/>
                </a:solidFill>
                <a:latin typeface="Arial"/>
                <a:cs typeface="Arial"/>
              </a:rPr>
              <a:t>Search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15399"/>
              </a:lnSpc>
              <a:spcBef>
                <a:spcPts val="705"/>
              </a:spcBef>
            </a:pP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Filter</a:t>
            </a:r>
            <a:r>
              <a:rPr dirty="0" sz="1300" spc="33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logs</a:t>
            </a:r>
            <a:r>
              <a:rPr dirty="0" sz="1300" spc="34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50">
                <a:solidFill>
                  <a:srgbClr val="334155"/>
                </a:solidFill>
                <a:latin typeface="Calibri"/>
                <a:cs typeface="Calibri"/>
              </a:rPr>
              <a:t>by</a:t>
            </a:r>
            <a:r>
              <a:rPr dirty="0" sz="13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custom</a:t>
            </a:r>
            <a:r>
              <a:rPr dirty="0" sz="1300" spc="34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334155"/>
                </a:solidFill>
                <a:latin typeface="Calibri"/>
                <a:cs typeface="Calibri"/>
              </a:rPr>
              <a:t>date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ranges</a:t>
            </a:r>
            <a:r>
              <a:rPr dirty="0" sz="1300" spc="32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or</a:t>
            </a:r>
            <a:r>
              <a:rPr dirty="0" sz="1300" spc="33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45">
                <a:solidFill>
                  <a:srgbClr val="334155"/>
                </a:solidFill>
                <a:latin typeface="Calibri"/>
                <a:cs typeface="Calibri"/>
              </a:rPr>
              <a:t>specific</a:t>
            </a:r>
            <a:r>
              <a:rPr dirty="0" sz="1300" spc="33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45">
                <a:solidFill>
                  <a:srgbClr val="334155"/>
                </a:solidFill>
                <a:latin typeface="Calibri"/>
                <a:cs typeface="Calibri"/>
              </a:rPr>
              <a:t>category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thresholds</a:t>
            </a:r>
            <a:r>
              <a:rPr dirty="0" sz="1300" spc="155">
                <a:solidFill>
                  <a:srgbClr val="334155"/>
                </a:solidFill>
                <a:latin typeface="Calibri"/>
                <a:cs typeface="Calibri"/>
              </a:rPr>
              <a:t>  </a:t>
            </a:r>
            <a:r>
              <a:rPr dirty="0" sz="1300" spc="-10">
                <a:solidFill>
                  <a:srgbClr val="334155"/>
                </a:solidFill>
                <a:latin typeface="Calibri"/>
                <a:cs typeface="Calibri"/>
              </a:rPr>
              <a:t>instantly.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dirty="0" spc="-520"/>
              <a:t>T</a:t>
            </a:r>
            <a:r>
              <a:rPr dirty="0" spc="114"/>
              <a:t>e</a:t>
            </a:r>
            <a:r>
              <a:rPr dirty="0" spc="20"/>
              <a:t>c</a:t>
            </a:r>
            <a:r>
              <a:rPr dirty="0" spc="55"/>
              <a:t>h</a:t>
            </a:r>
            <a:r>
              <a:rPr dirty="0" spc="40"/>
              <a:t>n</a:t>
            </a:r>
            <a:r>
              <a:rPr dirty="0" spc="55"/>
              <a:t>o</a:t>
            </a:r>
            <a:r>
              <a:rPr dirty="0" spc="40"/>
              <a:t>l</a:t>
            </a:r>
            <a:r>
              <a:rPr dirty="0" spc="80"/>
              <a:t>o</a:t>
            </a:r>
            <a:r>
              <a:rPr dirty="0" spc="25"/>
              <a:t>g</a:t>
            </a:r>
            <a:r>
              <a:rPr dirty="0" spc="-10"/>
              <a:t>i</a:t>
            </a:r>
            <a:r>
              <a:rPr dirty="0" spc="155"/>
              <a:t>e</a:t>
            </a:r>
            <a:r>
              <a:rPr dirty="0" spc="-70"/>
              <a:t>s</a:t>
            </a:r>
            <a:r>
              <a:rPr dirty="0" spc="155"/>
              <a:t> </a:t>
            </a:r>
            <a:r>
              <a:rPr dirty="0" spc="-20" i="1">
                <a:solidFill>
                  <a:srgbClr val="FF3366"/>
                </a:solidFill>
                <a:latin typeface="Brush Script MT"/>
                <a:cs typeface="Brush Script MT"/>
              </a:rPr>
              <a:t>Used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3221" y="463858"/>
            <a:ext cx="1899107" cy="4248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63368" y="2495613"/>
            <a:ext cx="6019165" cy="866775"/>
            <a:chOff x="463368" y="2495613"/>
            <a:chExt cx="6019165" cy="866775"/>
          </a:xfrm>
        </p:grpSpPr>
        <p:sp>
          <p:nvSpPr>
            <p:cNvPr id="5" name="object 5"/>
            <p:cNvSpPr/>
            <p:nvPr/>
          </p:nvSpPr>
          <p:spPr>
            <a:xfrm>
              <a:off x="472893" y="2505138"/>
              <a:ext cx="6000115" cy="847725"/>
            </a:xfrm>
            <a:custGeom>
              <a:avLst/>
              <a:gdLst/>
              <a:ahLst/>
              <a:cxnLst/>
              <a:rect l="l" t="t" r="r" b="b"/>
              <a:pathLst>
                <a:path w="6000115" h="847725">
                  <a:moveTo>
                    <a:pt x="5847325" y="0"/>
                  </a:moveTo>
                  <a:lnTo>
                    <a:pt x="152398" y="0"/>
                  </a:lnTo>
                  <a:lnTo>
                    <a:pt x="104228" y="7768"/>
                  </a:lnTo>
                  <a:lnTo>
                    <a:pt x="62393" y="29402"/>
                  </a:lnTo>
                  <a:lnTo>
                    <a:pt x="29403" y="62391"/>
                  </a:lnTo>
                  <a:lnTo>
                    <a:pt x="7769" y="104226"/>
                  </a:lnTo>
                  <a:lnTo>
                    <a:pt x="0" y="152400"/>
                  </a:lnTo>
                  <a:lnTo>
                    <a:pt x="0" y="695198"/>
                  </a:lnTo>
                  <a:lnTo>
                    <a:pt x="7769" y="743371"/>
                  </a:lnTo>
                  <a:lnTo>
                    <a:pt x="29403" y="785206"/>
                  </a:lnTo>
                  <a:lnTo>
                    <a:pt x="62393" y="818195"/>
                  </a:lnTo>
                  <a:lnTo>
                    <a:pt x="104228" y="839829"/>
                  </a:lnTo>
                  <a:lnTo>
                    <a:pt x="152398" y="847598"/>
                  </a:lnTo>
                  <a:lnTo>
                    <a:pt x="5847325" y="847598"/>
                  </a:lnTo>
                  <a:lnTo>
                    <a:pt x="5895493" y="839829"/>
                  </a:lnTo>
                  <a:lnTo>
                    <a:pt x="5937328" y="818195"/>
                  </a:lnTo>
                  <a:lnTo>
                    <a:pt x="5970319" y="785206"/>
                  </a:lnTo>
                  <a:lnTo>
                    <a:pt x="5991955" y="743371"/>
                  </a:lnTo>
                  <a:lnTo>
                    <a:pt x="5999725" y="695198"/>
                  </a:lnTo>
                  <a:lnTo>
                    <a:pt x="5999725" y="152400"/>
                  </a:lnTo>
                  <a:lnTo>
                    <a:pt x="5991955" y="104226"/>
                  </a:lnTo>
                  <a:lnTo>
                    <a:pt x="5970319" y="62391"/>
                  </a:lnTo>
                  <a:lnTo>
                    <a:pt x="5937328" y="29402"/>
                  </a:lnTo>
                  <a:lnTo>
                    <a:pt x="5895493" y="7768"/>
                  </a:lnTo>
                  <a:lnTo>
                    <a:pt x="5847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2893" y="2505138"/>
              <a:ext cx="6000115" cy="847725"/>
            </a:xfrm>
            <a:custGeom>
              <a:avLst/>
              <a:gdLst/>
              <a:ahLst/>
              <a:cxnLst/>
              <a:rect l="l" t="t" r="r" b="b"/>
              <a:pathLst>
                <a:path w="6000115" h="847725">
                  <a:moveTo>
                    <a:pt x="152398" y="0"/>
                  </a:moveTo>
                  <a:lnTo>
                    <a:pt x="5847321" y="0"/>
                  </a:lnTo>
                  <a:lnTo>
                    <a:pt x="5895494" y="7769"/>
                  </a:lnTo>
                  <a:lnTo>
                    <a:pt x="5937329" y="29404"/>
                  </a:lnTo>
                  <a:lnTo>
                    <a:pt x="5970319" y="62394"/>
                  </a:lnTo>
                  <a:lnTo>
                    <a:pt x="5991952" y="104229"/>
                  </a:lnTo>
                  <a:lnTo>
                    <a:pt x="5999721" y="152398"/>
                  </a:lnTo>
                  <a:lnTo>
                    <a:pt x="5999721" y="695205"/>
                  </a:lnTo>
                  <a:lnTo>
                    <a:pt x="5991952" y="743375"/>
                  </a:lnTo>
                  <a:lnTo>
                    <a:pt x="5970319" y="785210"/>
                  </a:lnTo>
                  <a:lnTo>
                    <a:pt x="5937329" y="818201"/>
                  </a:lnTo>
                  <a:lnTo>
                    <a:pt x="5895494" y="839836"/>
                  </a:lnTo>
                  <a:lnTo>
                    <a:pt x="5847321" y="847605"/>
                  </a:lnTo>
                  <a:lnTo>
                    <a:pt x="152398" y="847605"/>
                  </a:lnTo>
                  <a:lnTo>
                    <a:pt x="104229" y="839836"/>
                  </a:lnTo>
                  <a:lnTo>
                    <a:pt x="62394" y="818201"/>
                  </a:lnTo>
                  <a:lnTo>
                    <a:pt x="29404" y="785210"/>
                  </a:lnTo>
                  <a:lnTo>
                    <a:pt x="7769" y="743375"/>
                  </a:lnTo>
                  <a:lnTo>
                    <a:pt x="0" y="695205"/>
                  </a:lnTo>
                  <a:lnTo>
                    <a:pt x="0" y="152398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8" y="0"/>
                  </a:lnTo>
                  <a:close/>
                </a:path>
              </a:pathLst>
            </a:custGeom>
            <a:ln w="19050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5557" y="2763469"/>
            <a:ext cx="161925" cy="219075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72893" y="3333686"/>
            <a:ext cx="6000115" cy="19050"/>
          </a:xfrm>
          <a:custGeom>
            <a:avLst/>
            <a:gdLst/>
            <a:ahLst/>
            <a:cxnLst/>
            <a:rect l="l" t="t" r="r" b="b"/>
            <a:pathLst>
              <a:path w="6000115" h="19050">
                <a:moveTo>
                  <a:pt x="5999721" y="0"/>
                </a:moveTo>
                <a:lnTo>
                  <a:pt x="0" y="0"/>
                </a:lnTo>
                <a:lnTo>
                  <a:pt x="0" y="19050"/>
                </a:lnTo>
                <a:lnTo>
                  <a:pt x="5999721" y="19050"/>
                </a:lnTo>
                <a:lnTo>
                  <a:pt x="5999721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463059" y="3408616"/>
            <a:ext cx="6019800" cy="669925"/>
            <a:chOff x="463059" y="3408616"/>
            <a:chExt cx="6019800" cy="669925"/>
          </a:xfrm>
        </p:grpSpPr>
        <p:sp>
          <p:nvSpPr>
            <p:cNvPr id="8" name="object 8"/>
            <p:cNvSpPr/>
            <p:nvPr/>
          </p:nvSpPr>
          <p:spPr>
            <a:xfrm>
              <a:off x="472584" y="3418141"/>
              <a:ext cx="6000750" cy="650875"/>
            </a:xfrm>
            <a:custGeom>
              <a:avLst/>
              <a:gdLst/>
              <a:ahLst/>
              <a:cxnLst/>
              <a:rect l="l" t="t" r="r" b="b"/>
              <a:pathLst>
                <a:path w="6000750" h="650875">
                  <a:moveTo>
                    <a:pt x="5847938" y="0"/>
                  </a:moveTo>
                  <a:lnTo>
                    <a:pt x="152398" y="0"/>
                  </a:lnTo>
                  <a:lnTo>
                    <a:pt x="104228" y="7769"/>
                  </a:lnTo>
                  <a:lnTo>
                    <a:pt x="62393" y="29405"/>
                  </a:lnTo>
                  <a:lnTo>
                    <a:pt x="29403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497967"/>
                  </a:lnTo>
                  <a:lnTo>
                    <a:pt x="7769" y="546135"/>
                  </a:lnTo>
                  <a:lnTo>
                    <a:pt x="29403" y="587970"/>
                  </a:lnTo>
                  <a:lnTo>
                    <a:pt x="62393" y="620961"/>
                  </a:lnTo>
                  <a:lnTo>
                    <a:pt x="104228" y="642597"/>
                  </a:lnTo>
                  <a:lnTo>
                    <a:pt x="152398" y="650367"/>
                  </a:lnTo>
                  <a:lnTo>
                    <a:pt x="5847938" y="650367"/>
                  </a:lnTo>
                  <a:lnTo>
                    <a:pt x="5896111" y="642597"/>
                  </a:lnTo>
                  <a:lnTo>
                    <a:pt x="5937947" y="620961"/>
                  </a:lnTo>
                  <a:lnTo>
                    <a:pt x="5970936" y="587970"/>
                  </a:lnTo>
                  <a:lnTo>
                    <a:pt x="5992569" y="546135"/>
                  </a:lnTo>
                  <a:lnTo>
                    <a:pt x="6000338" y="497967"/>
                  </a:lnTo>
                  <a:lnTo>
                    <a:pt x="6000338" y="152400"/>
                  </a:lnTo>
                  <a:lnTo>
                    <a:pt x="5992569" y="104231"/>
                  </a:lnTo>
                  <a:lnTo>
                    <a:pt x="5970936" y="62396"/>
                  </a:lnTo>
                  <a:lnTo>
                    <a:pt x="5937947" y="29405"/>
                  </a:lnTo>
                  <a:lnTo>
                    <a:pt x="5896111" y="7769"/>
                  </a:lnTo>
                  <a:lnTo>
                    <a:pt x="5847938" y="0"/>
                  </a:lnTo>
                  <a:close/>
                </a:path>
              </a:pathLst>
            </a:custGeom>
            <a:solidFill>
              <a:srgbClr val="F8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72584" y="3418141"/>
              <a:ext cx="6000750" cy="650875"/>
            </a:xfrm>
            <a:custGeom>
              <a:avLst/>
              <a:gdLst/>
              <a:ahLst/>
              <a:cxnLst/>
              <a:rect l="l" t="t" r="r" b="b"/>
              <a:pathLst>
                <a:path w="6000750" h="650875">
                  <a:moveTo>
                    <a:pt x="152398" y="0"/>
                  </a:moveTo>
                  <a:lnTo>
                    <a:pt x="5847943" y="0"/>
                  </a:lnTo>
                  <a:lnTo>
                    <a:pt x="5896111" y="7769"/>
                  </a:lnTo>
                  <a:lnTo>
                    <a:pt x="5937946" y="29404"/>
                  </a:lnTo>
                  <a:lnTo>
                    <a:pt x="5970937" y="62393"/>
                  </a:lnTo>
                  <a:lnTo>
                    <a:pt x="5992573" y="104228"/>
                  </a:lnTo>
                  <a:lnTo>
                    <a:pt x="6000343" y="152398"/>
                  </a:lnTo>
                  <a:lnTo>
                    <a:pt x="6000343" y="497959"/>
                  </a:lnTo>
                  <a:lnTo>
                    <a:pt x="5992573" y="546128"/>
                  </a:lnTo>
                  <a:lnTo>
                    <a:pt x="5970937" y="587963"/>
                  </a:lnTo>
                  <a:lnTo>
                    <a:pt x="5937946" y="620952"/>
                  </a:lnTo>
                  <a:lnTo>
                    <a:pt x="5896111" y="642587"/>
                  </a:lnTo>
                  <a:lnTo>
                    <a:pt x="5847943" y="650356"/>
                  </a:lnTo>
                  <a:lnTo>
                    <a:pt x="152398" y="650356"/>
                  </a:lnTo>
                  <a:lnTo>
                    <a:pt x="104228" y="642587"/>
                  </a:lnTo>
                  <a:lnTo>
                    <a:pt x="62393" y="620952"/>
                  </a:lnTo>
                  <a:lnTo>
                    <a:pt x="29404" y="587963"/>
                  </a:lnTo>
                  <a:lnTo>
                    <a:pt x="7769" y="546128"/>
                  </a:lnTo>
                  <a:lnTo>
                    <a:pt x="0" y="497959"/>
                  </a:lnTo>
                  <a:lnTo>
                    <a:pt x="0" y="152398"/>
                  </a:lnTo>
                  <a:lnTo>
                    <a:pt x="7769" y="104228"/>
                  </a:lnTo>
                  <a:lnTo>
                    <a:pt x="29404" y="62393"/>
                  </a:lnTo>
                  <a:lnTo>
                    <a:pt x="62393" y="29404"/>
                  </a:lnTo>
                  <a:lnTo>
                    <a:pt x="104228" y="7769"/>
                  </a:lnTo>
                  <a:lnTo>
                    <a:pt x="152398" y="0"/>
                  </a:lnTo>
                  <a:close/>
                </a:path>
              </a:pathLst>
            </a:custGeom>
            <a:ln w="19050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6032" y="3594887"/>
            <a:ext cx="180975" cy="21907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72584" y="4049458"/>
            <a:ext cx="6000750" cy="19050"/>
          </a:xfrm>
          <a:custGeom>
            <a:avLst/>
            <a:gdLst/>
            <a:ahLst/>
            <a:cxnLst/>
            <a:rect l="l" t="t" r="r" b="b"/>
            <a:pathLst>
              <a:path w="6000750" h="19050">
                <a:moveTo>
                  <a:pt x="6000343" y="0"/>
                </a:moveTo>
                <a:lnTo>
                  <a:pt x="0" y="0"/>
                </a:lnTo>
                <a:lnTo>
                  <a:pt x="0" y="19049"/>
                </a:lnTo>
                <a:lnTo>
                  <a:pt x="6000343" y="19049"/>
                </a:lnTo>
                <a:lnTo>
                  <a:pt x="6000343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462724" y="4119155"/>
            <a:ext cx="6020435" cy="877569"/>
            <a:chOff x="462724" y="4119155"/>
            <a:chExt cx="6020435" cy="877569"/>
          </a:xfrm>
        </p:grpSpPr>
        <p:sp>
          <p:nvSpPr>
            <p:cNvPr id="11" name="object 11"/>
            <p:cNvSpPr/>
            <p:nvPr/>
          </p:nvSpPr>
          <p:spPr>
            <a:xfrm>
              <a:off x="472249" y="4128680"/>
              <a:ext cx="6001385" cy="858519"/>
            </a:xfrm>
            <a:custGeom>
              <a:avLst/>
              <a:gdLst/>
              <a:ahLst/>
              <a:cxnLst/>
              <a:rect l="l" t="t" r="r" b="b"/>
              <a:pathLst>
                <a:path w="6001385" h="858520">
                  <a:moveTo>
                    <a:pt x="5848616" y="0"/>
                  </a:moveTo>
                  <a:lnTo>
                    <a:pt x="152397" y="0"/>
                  </a:lnTo>
                  <a:lnTo>
                    <a:pt x="104228" y="7769"/>
                  </a:lnTo>
                  <a:lnTo>
                    <a:pt x="62393" y="29405"/>
                  </a:lnTo>
                  <a:lnTo>
                    <a:pt x="29403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705662"/>
                  </a:lnTo>
                  <a:lnTo>
                    <a:pt x="7769" y="753830"/>
                  </a:lnTo>
                  <a:lnTo>
                    <a:pt x="29403" y="795665"/>
                  </a:lnTo>
                  <a:lnTo>
                    <a:pt x="62393" y="828656"/>
                  </a:lnTo>
                  <a:lnTo>
                    <a:pt x="104228" y="850292"/>
                  </a:lnTo>
                  <a:lnTo>
                    <a:pt x="152397" y="858062"/>
                  </a:lnTo>
                  <a:lnTo>
                    <a:pt x="5848616" y="858062"/>
                  </a:lnTo>
                  <a:lnTo>
                    <a:pt x="5896783" y="850292"/>
                  </a:lnTo>
                  <a:lnTo>
                    <a:pt x="5938615" y="828656"/>
                  </a:lnTo>
                  <a:lnTo>
                    <a:pt x="5971602" y="795665"/>
                  </a:lnTo>
                  <a:lnTo>
                    <a:pt x="5993235" y="753830"/>
                  </a:lnTo>
                  <a:lnTo>
                    <a:pt x="6001004" y="705662"/>
                  </a:lnTo>
                  <a:lnTo>
                    <a:pt x="6001004" y="152400"/>
                  </a:lnTo>
                  <a:lnTo>
                    <a:pt x="5993235" y="104231"/>
                  </a:lnTo>
                  <a:lnTo>
                    <a:pt x="5971602" y="62396"/>
                  </a:lnTo>
                  <a:lnTo>
                    <a:pt x="5938615" y="29405"/>
                  </a:lnTo>
                  <a:lnTo>
                    <a:pt x="5896783" y="7769"/>
                  </a:lnTo>
                  <a:lnTo>
                    <a:pt x="5848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72249" y="4128680"/>
              <a:ext cx="6001385" cy="858519"/>
            </a:xfrm>
            <a:custGeom>
              <a:avLst/>
              <a:gdLst/>
              <a:ahLst/>
              <a:cxnLst/>
              <a:rect l="l" t="t" r="r" b="b"/>
              <a:pathLst>
                <a:path w="6001385" h="858520">
                  <a:moveTo>
                    <a:pt x="152398" y="0"/>
                  </a:moveTo>
                  <a:lnTo>
                    <a:pt x="5848616" y="0"/>
                  </a:lnTo>
                  <a:lnTo>
                    <a:pt x="5896783" y="7769"/>
                  </a:lnTo>
                  <a:lnTo>
                    <a:pt x="5938615" y="29404"/>
                  </a:lnTo>
                  <a:lnTo>
                    <a:pt x="5971602" y="62393"/>
                  </a:lnTo>
                  <a:lnTo>
                    <a:pt x="5993235" y="104228"/>
                  </a:lnTo>
                  <a:lnTo>
                    <a:pt x="6001004" y="152398"/>
                  </a:lnTo>
                  <a:lnTo>
                    <a:pt x="6001004" y="705652"/>
                  </a:lnTo>
                  <a:lnTo>
                    <a:pt x="5993235" y="753822"/>
                  </a:lnTo>
                  <a:lnTo>
                    <a:pt x="5971602" y="795657"/>
                  </a:lnTo>
                  <a:lnTo>
                    <a:pt x="5938615" y="828647"/>
                  </a:lnTo>
                  <a:lnTo>
                    <a:pt x="5896783" y="850281"/>
                  </a:lnTo>
                  <a:lnTo>
                    <a:pt x="5848616" y="858051"/>
                  </a:lnTo>
                  <a:lnTo>
                    <a:pt x="152398" y="858051"/>
                  </a:lnTo>
                  <a:lnTo>
                    <a:pt x="104228" y="850281"/>
                  </a:lnTo>
                  <a:lnTo>
                    <a:pt x="62393" y="828647"/>
                  </a:lnTo>
                  <a:lnTo>
                    <a:pt x="29404" y="795657"/>
                  </a:lnTo>
                  <a:lnTo>
                    <a:pt x="7769" y="753822"/>
                  </a:lnTo>
                  <a:lnTo>
                    <a:pt x="0" y="705652"/>
                  </a:lnTo>
                  <a:lnTo>
                    <a:pt x="0" y="152398"/>
                  </a:lnTo>
                  <a:lnTo>
                    <a:pt x="7769" y="104228"/>
                  </a:lnTo>
                  <a:lnTo>
                    <a:pt x="29404" y="62393"/>
                  </a:lnTo>
                  <a:lnTo>
                    <a:pt x="62393" y="29404"/>
                  </a:lnTo>
                  <a:lnTo>
                    <a:pt x="104228" y="7769"/>
                  </a:lnTo>
                  <a:lnTo>
                    <a:pt x="152398" y="0"/>
                  </a:lnTo>
                  <a:close/>
                </a:path>
              </a:pathLst>
            </a:custGeom>
            <a:ln w="19050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6032" y="4426293"/>
            <a:ext cx="180975" cy="21907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072588" y="2697479"/>
            <a:ext cx="5289550" cy="2055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" marR="712470">
              <a:lnSpc>
                <a:spcPct val="100000"/>
              </a:lnSpc>
              <a:spcBef>
                <a:spcPts val="100"/>
              </a:spcBef>
            </a:pPr>
            <a:r>
              <a:rPr dirty="0" sz="1500" spc="-105" b="1">
                <a:solidFill>
                  <a:srgbClr val="0F172A"/>
                </a:solidFill>
                <a:latin typeface="Arial"/>
                <a:cs typeface="Arial"/>
              </a:rPr>
              <a:t>Frontend</a:t>
            </a:r>
            <a:r>
              <a:rPr dirty="0" sz="1500" spc="-2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65" b="1">
                <a:solidFill>
                  <a:srgbClr val="0F172A"/>
                </a:solidFill>
                <a:latin typeface="Arial"/>
                <a:cs typeface="Arial"/>
              </a:rPr>
              <a:t>UI:</a:t>
            </a:r>
            <a:r>
              <a:rPr dirty="0" sz="1500" spc="3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HTML5,</a:t>
            </a:r>
            <a:r>
              <a:rPr dirty="0" sz="15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135">
                <a:solidFill>
                  <a:srgbClr val="334155"/>
                </a:solidFill>
                <a:latin typeface="Calibri"/>
                <a:cs typeface="Calibri"/>
              </a:rPr>
              <a:t>CSS3</a:t>
            </a:r>
            <a:r>
              <a:rPr dirty="0" sz="15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&amp;</a:t>
            </a:r>
            <a:r>
              <a:rPr dirty="0" sz="1500" spc="2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90">
                <a:solidFill>
                  <a:srgbClr val="334155"/>
                </a:solidFill>
                <a:latin typeface="Calibri"/>
                <a:cs typeface="Calibri"/>
              </a:rPr>
              <a:t>JavaScript</a:t>
            </a:r>
            <a:r>
              <a:rPr dirty="0" sz="1500" spc="26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75">
                <a:solidFill>
                  <a:srgbClr val="334155"/>
                </a:solidFill>
                <a:latin typeface="Calibri"/>
                <a:cs typeface="Calibri"/>
              </a:rPr>
              <a:t>for</a:t>
            </a:r>
            <a:r>
              <a:rPr dirty="0" sz="1500" spc="27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85">
                <a:solidFill>
                  <a:srgbClr val="334155"/>
                </a:solidFill>
                <a:latin typeface="Calibri"/>
                <a:cs typeface="Calibri"/>
              </a:rPr>
              <a:t>a</a:t>
            </a:r>
            <a:r>
              <a:rPr dirty="0" sz="1500" spc="27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34155"/>
                </a:solidFill>
                <a:latin typeface="Calibri"/>
                <a:cs typeface="Calibri"/>
              </a:rPr>
              <a:t>snappy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responsive</a:t>
            </a:r>
            <a:r>
              <a:rPr dirty="0" sz="1500" spc="42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web</a:t>
            </a:r>
            <a:r>
              <a:rPr dirty="0" sz="1500" spc="42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40">
                <a:solidFill>
                  <a:srgbClr val="334155"/>
                </a:solidFill>
                <a:latin typeface="Calibri"/>
                <a:cs typeface="Calibri"/>
              </a:rPr>
              <a:t>interface.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500">
              <a:latin typeface="Calibri"/>
              <a:cs typeface="Calibri"/>
            </a:endParaRPr>
          </a:p>
          <a:p>
            <a:pPr marL="12700" marR="929640">
              <a:lnSpc>
                <a:spcPct val="100000"/>
              </a:lnSpc>
            </a:pPr>
            <a:r>
              <a:rPr dirty="0" sz="1500" spc="-120" b="1">
                <a:solidFill>
                  <a:srgbClr val="0F172A"/>
                </a:solidFill>
                <a:latin typeface="Arial"/>
                <a:cs typeface="Arial"/>
              </a:rPr>
              <a:t>Backend</a:t>
            </a:r>
            <a:r>
              <a:rPr dirty="0" sz="1500" spc="-3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114" b="1">
                <a:solidFill>
                  <a:srgbClr val="0F172A"/>
                </a:solidFill>
                <a:latin typeface="Arial"/>
                <a:cs typeface="Arial"/>
              </a:rPr>
              <a:t>Logic:</a:t>
            </a:r>
            <a:r>
              <a:rPr dirty="0" sz="1500" spc="1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334155"/>
                </a:solidFill>
                <a:latin typeface="Calibri"/>
                <a:cs typeface="Calibri"/>
              </a:rPr>
              <a:t>Python</a:t>
            </a:r>
            <a:r>
              <a:rPr dirty="0" sz="1500" spc="254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240">
                <a:solidFill>
                  <a:srgbClr val="334155"/>
                </a:solidFill>
                <a:latin typeface="Calibri"/>
                <a:cs typeface="Calibri"/>
              </a:rPr>
              <a:t>/</a:t>
            </a:r>
            <a:r>
              <a:rPr dirty="0" sz="1500" spc="254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334155"/>
                </a:solidFill>
                <a:latin typeface="Calibri"/>
                <a:cs typeface="Calibri"/>
              </a:rPr>
              <a:t>Flask</a:t>
            </a:r>
            <a:r>
              <a:rPr dirty="0" sz="1500" spc="25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334155"/>
                </a:solidFill>
                <a:latin typeface="Calibri"/>
                <a:cs typeface="Calibri"/>
              </a:rPr>
              <a:t>framework</a:t>
            </a:r>
            <a:r>
              <a:rPr dirty="0" sz="1500" spc="254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34155"/>
                </a:solidFill>
                <a:latin typeface="Calibri"/>
                <a:cs typeface="Calibri"/>
              </a:rPr>
              <a:t>handling </a:t>
            </a:r>
            <a:r>
              <a:rPr dirty="0" sz="1500" spc="114">
                <a:solidFill>
                  <a:srgbClr val="334155"/>
                </a:solidFill>
                <a:latin typeface="Calibri"/>
                <a:cs typeface="Calibri"/>
              </a:rPr>
              <a:t>RESTful</a:t>
            </a:r>
            <a:r>
              <a:rPr dirty="0" sz="1500" spc="14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170">
                <a:solidFill>
                  <a:srgbClr val="334155"/>
                </a:solidFill>
                <a:latin typeface="Calibri"/>
                <a:cs typeface="Calibri"/>
              </a:rPr>
              <a:t>API</a:t>
            </a:r>
            <a:r>
              <a:rPr dirty="0" sz="1500" spc="24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34155"/>
                </a:solidFill>
                <a:latin typeface="Calibri"/>
                <a:cs typeface="Calibri"/>
              </a:rPr>
              <a:t>routes.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500">
              <a:latin typeface="Calibri"/>
              <a:cs typeface="Calibri"/>
            </a:endParaRPr>
          </a:p>
          <a:p>
            <a:pPr marL="41275" marR="5080">
              <a:lnSpc>
                <a:spcPct val="100000"/>
              </a:lnSpc>
            </a:pPr>
            <a:r>
              <a:rPr dirty="0" sz="1500" spc="-60" b="1">
                <a:solidFill>
                  <a:srgbClr val="0F172A"/>
                </a:solidFill>
                <a:latin typeface="Arial"/>
                <a:cs typeface="Arial"/>
              </a:rPr>
              <a:t>Relational</a:t>
            </a:r>
            <a:r>
              <a:rPr dirty="0" sz="1500" spc="3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Arial"/>
                <a:cs typeface="Arial"/>
              </a:rPr>
              <a:t>Database:</a:t>
            </a:r>
            <a:r>
              <a:rPr dirty="0" sz="1500" spc="9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105">
                <a:solidFill>
                  <a:srgbClr val="334155"/>
                </a:solidFill>
                <a:latin typeface="Calibri"/>
                <a:cs typeface="Calibri"/>
              </a:rPr>
              <a:t>MySQL</a:t>
            </a:r>
            <a:r>
              <a:rPr dirty="0" sz="1500" spc="3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database</a:t>
            </a:r>
            <a:r>
              <a:rPr dirty="0" sz="1500" spc="35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45">
                <a:solidFill>
                  <a:srgbClr val="334155"/>
                </a:solidFill>
                <a:latin typeface="Calibri"/>
                <a:cs typeface="Calibri"/>
              </a:rPr>
              <a:t>storing</a:t>
            </a:r>
            <a:r>
              <a:rPr dirty="0" sz="1500" spc="35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70">
                <a:solidFill>
                  <a:srgbClr val="334155"/>
                </a:solidFill>
                <a:latin typeface="Calibri"/>
                <a:cs typeface="Calibri"/>
              </a:rPr>
              <a:t>user</a:t>
            </a:r>
            <a:r>
              <a:rPr dirty="0" sz="1500" spc="3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profiles</a:t>
            </a:r>
            <a:r>
              <a:rPr dirty="0" sz="1500" spc="35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334155"/>
                </a:solidFill>
                <a:latin typeface="Calibri"/>
                <a:cs typeface="Calibri"/>
              </a:rPr>
              <a:t>&amp; </a:t>
            </a:r>
            <a:r>
              <a:rPr dirty="0" sz="1500" spc="50">
                <a:solidFill>
                  <a:srgbClr val="334155"/>
                </a:solidFill>
                <a:latin typeface="Calibri"/>
                <a:cs typeface="Calibri"/>
              </a:rPr>
              <a:t>transaction</a:t>
            </a:r>
            <a:r>
              <a:rPr dirty="0" sz="1500" spc="22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334155"/>
                </a:solidFill>
                <a:latin typeface="Calibri"/>
                <a:cs typeface="Calibri"/>
              </a:rPr>
              <a:t>logs.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2249" y="4967694"/>
            <a:ext cx="6001385" cy="19050"/>
          </a:xfrm>
          <a:custGeom>
            <a:avLst/>
            <a:gdLst/>
            <a:ahLst/>
            <a:cxnLst/>
            <a:rect l="l" t="t" r="r" b="b"/>
            <a:pathLst>
              <a:path w="6001385" h="19050">
                <a:moveTo>
                  <a:pt x="6001004" y="0"/>
                </a:moveTo>
                <a:lnTo>
                  <a:pt x="0" y="0"/>
                </a:lnTo>
                <a:lnTo>
                  <a:pt x="0" y="19049"/>
                </a:lnTo>
                <a:lnTo>
                  <a:pt x="6001004" y="19049"/>
                </a:lnTo>
                <a:lnTo>
                  <a:pt x="6001004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2165" y="2000250"/>
            <a:ext cx="4903584" cy="36195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0740" y="2028825"/>
            <a:ext cx="4846434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System</a:t>
            </a:r>
            <a:r>
              <a:rPr dirty="0" spc="90"/>
              <a:t> </a:t>
            </a:r>
            <a:r>
              <a:rPr dirty="0" spc="-10" i="1">
                <a:solidFill>
                  <a:srgbClr val="FF3366"/>
                </a:solidFill>
                <a:latin typeface="Brush Script MT"/>
                <a:cs typeface="Brush Script MT"/>
              </a:rPr>
              <a:t>Architecture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0393565" y="514350"/>
            <a:ext cx="1322705" cy="323850"/>
            <a:chOff x="10393565" y="514350"/>
            <a:chExt cx="1322705" cy="323850"/>
          </a:xfrm>
        </p:grpSpPr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93565" y="514350"/>
              <a:ext cx="1322184" cy="3238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24820" y="609600"/>
              <a:ext cx="125758" cy="133350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1038225" y="2864713"/>
            <a:ext cx="10115550" cy="38100"/>
          </a:xfrm>
          <a:custGeom>
            <a:avLst/>
            <a:gdLst/>
            <a:ahLst/>
            <a:cxnLst/>
            <a:rect l="l" t="t" r="r" b="b"/>
            <a:pathLst>
              <a:path w="10115550" h="38100">
                <a:moveTo>
                  <a:pt x="10115550" y="0"/>
                </a:moveTo>
                <a:lnTo>
                  <a:pt x="0" y="0"/>
                </a:lnTo>
                <a:lnTo>
                  <a:pt x="0" y="38100"/>
                </a:lnTo>
                <a:lnTo>
                  <a:pt x="10115550" y="38100"/>
                </a:lnTo>
                <a:lnTo>
                  <a:pt x="10115550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919" y="3014662"/>
            <a:ext cx="495300" cy="495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7151" y="3014662"/>
            <a:ext cx="495300" cy="495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09396" y="3014662"/>
            <a:ext cx="495300" cy="4953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31640" y="3014662"/>
            <a:ext cx="495300" cy="495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446" y="3617522"/>
            <a:ext cx="2492235" cy="101359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4695" y="3724341"/>
            <a:ext cx="2051050" cy="6794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algn="ctr" marL="13335">
              <a:lnSpc>
                <a:spcPct val="100000"/>
              </a:lnSpc>
              <a:spcBef>
                <a:spcPts val="380"/>
              </a:spcBef>
            </a:pPr>
            <a:r>
              <a:rPr dirty="0" sz="1500" spc="-130" b="1">
                <a:solidFill>
                  <a:srgbClr val="0F172A"/>
                </a:solidFill>
                <a:latin typeface="Arial"/>
                <a:cs typeface="Arial"/>
              </a:rPr>
              <a:t>User</a:t>
            </a:r>
            <a:r>
              <a:rPr dirty="0" sz="1500" spc="-10" b="1">
                <a:solidFill>
                  <a:srgbClr val="0F172A"/>
                </a:solidFill>
                <a:latin typeface="Arial"/>
                <a:cs typeface="Arial"/>
              </a:rPr>
              <a:t> Interface</a:t>
            </a:r>
            <a:endParaRPr sz="1500">
              <a:latin typeface="Arial"/>
              <a:cs typeface="Arial"/>
            </a:endParaRPr>
          </a:p>
          <a:p>
            <a:pPr algn="ctr" marL="12700" marR="5080">
              <a:lnSpc>
                <a:spcPts val="1400"/>
              </a:lnSpc>
              <a:spcBef>
                <a:spcPts val="305"/>
              </a:spcBef>
            </a:pPr>
            <a:r>
              <a:rPr dirty="0" sz="1200" spc="50">
                <a:solidFill>
                  <a:srgbClr val="475569"/>
                </a:solidFill>
                <a:latin typeface="Calibri"/>
                <a:cs typeface="Calibri"/>
              </a:rPr>
              <a:t>User</a:t>
            </a:r>
            <a:r>
              <a:rPr dirty="0" sz="1200" spc="25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submits</a:t>
            </a:r>
            <a:r>
              <a:rPr dirty="0" sz="1200" spc="254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9"/>
                </a:solidFill>
                <a:latin typeface="Calibri"/>
                <a:cs typeface="Calibri"/>
              </a:rPr>
              <a:t>expense/income </a:t>
            </a:r>
            <a:r>
              <a:rPr dirty="0" sz="1200" spc="70">
                <a:solidFill>
                  <a:srgbClr val="475569"/>
                </a:solidFill>
                <a:latin typeface="Calibri"/>
                <a:cs typeface="Calibri"/>
              </a:rPr>
              <a:t>entry</a:t>
            </a:r>
            <a:r>
              <a:rPr dirty="0" sz="1200" spc="24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via</a:t>
            </a:r>
            <a:r>
              <a:rPr dirty="0" sz="1200" spc="24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web</a:t>
            </a:r>
            <a:r>
              <a:rPr dirty="0" sz="1200" spc="24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75569"/>
                </a:solidFill>
                <a:latin typeface="Calibri"/>
                <a:cs typeface="Calibri"/>
              </a:rPr>
              <a:t>form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90277" y="3621807"/>
            <a:ext cx="2489047" cy="100503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578593" y="3719706"/>
            <a:ext cx="2117090" cy="68770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1500" spc="-145" b="1">
                <a:solidFill>
                  <a:srgbClr val="0F172A"/>
                </a:solidFill>
                <a:latin typeface="Arial"/>
                <a:cs typeface="Arial"/>
              </a:rPr>
              <a:t>JS</a:t>
            </a:r>
            <a:r>
              <a:rPr dirty="0" sz="1500" spc="-3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F172A"/>
                </a:solidFill>
                <a:latin typeface="Arial"/>
                <a:cs typeface="Arial"/>
              </a:rPr>
              <a:t>Engine</a:t>
            </a:r>
            <a:endParaRPr sz="1500">
              <a:latin typeface="Arial"/>
              <a:cs typeface="Arial"/>
            </a:endParaRPr>
          </a:p>
          <a:p>
            <a:pPr algn="ctr" marL="12700" marR="5080">
              <a:lnSpc>
                <a:spcPts val="1400"/>
              </a:lnSpc>
              <a:spcBef>
                <a:spcPts val="335"/>
              </a:spcBef>
            </a:pP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Validates</a:t>
            </a:r>
            <a:r>
              <a:rPr dirty="0" sz="1200" spc="32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inputs</a:t>
            </a:r>
            <a:r>
              <a:rPr dirty="0" sz="1200" spc="32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&amp;</a:t>
            </a:r>
            <a:r>
              <a:rPr dirty="0" sz="1200" spc="33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sends</a:t>
            </a:r>
            <a:r>
              <a:rPr dirty="0" sz="1200" spc="32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75569"/>
                </a:solidFill>
                <a:latin typeface="Calibri"/>
                <a:cs typeface="Calibri"/>
              </a:rPr>
              <a:t>Fetch </a:t>
            </a:r>
            <a:r>
              <a:rPr dirty="0" sz="1200" spc="130">
                <a:solidFill>
                  <a:srgbClr val="475569"/>
                </a:solidFill>
                <a:latin typeface="Calibri"/>
                <a:cs typeface="Calibri"/>
              </a:rPr>
              <a:t>API</a:t>
            </a:r>
            <a:r>
              <a:rPr dirty="0" sz="1200" spc="19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9"/>
                </a:solidFill>
                <a:latin typeface="Calibri"/>
                <a:cs typeface="Calibri"/>
              </a:rPr>
              <a:t>request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10922" y="3617522"/>
            <a:ext cx="2492235" cy="101359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553009" y="3724341"/>
            <a:ext cx="2002789" cy="6794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dirty="0" sz="1500" spc="-100" b="1">
                <a:solidFill>
                  <a:srgbClr val="0F172A"/>
                </a:solidFill>
                <a:latin typeface="Arial"/>
                <a:cs typeface="Arial"/>
              </a:rPr>
              <a:t>Flask</a:t>
            </a:r>
            <a:r>
              <a:rPr dirty="0" sz="1500" spc="-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0F172A"/>
                </a:solidFill>
                <a:latin typeface="Arial"/>
                <a:cs typeface="Arial"/>
              </a:rPr>
              <a:t>API</a:t>
            </a:r>
            <a:endParaRPr sz="1500">
              <a:latin typeface="Arial"/>
              <a:cs typeface="Arial"/>
            </a:endParaRPr>
          </a:p>
          <a:p>
            <a:pPr algn="ctr" marL="12700" marR="5080">
              <a:lnSpc>
                <a:spcPts val="1400"/>
              </a:lnSpc>
              <a:spcBef>
                <a:spcPts val="305"/>
              </a:spcBef>
            </a:pPr>
            <a:r>
              <a:rPr dirty="0" sz="1200" spc="50">
                <a:solidFill>
                  <a:srgbClr val="475569"/>
                </a:solidFill>
                <a:latin typeface="Calibri"/>
                <a:cs typeface="Calibri"/>
              </a:rPr>
              <a:t>Python</a:t>
            </a:r>
            <a:r>
              <a:rPr dirty="0" sz="1200" spc="33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processes</a:t>
            </a:r>
            <a:r>
              <a:rPr dirty="0" sz="1200" spc="33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9"/>
                </a:solidFill>
                <a:latin typeface="Calibri"/>
                <a:cs typeface="Calibri"/>
              </a:rPr>
              <a:t>controllers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&amp;</a:t>
            </a:r>
            <a:r>
              <a:rPr dirty="0" sz="1200" spc="27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session</a:t>
            </a:r>
            <a:r>
              <a:rPr dirty="0" sz="1200" spc="28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 spc="50">
                <a:solidFill>
                  <a:srgbClr val="475569"/>
                </a:solidFill>
                <a:latin typeface="Calibri"/>
                <a:cs typeface="Calibri"/>
              </a:rPr>
              <a:t>security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34766" y="3621807"/>
            <a:ext cx="2489047" cy="100503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461982" y="3719706"/>
            <a:ext cx="2038985" cy="68770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1500" spc="-95" b="1">
                <a:solidFill>
                  <a:srgbClr val="0F172A"/>
                </a:solidFill>
                <a:latin typeface="Arial"/>
                <a:cs typeface="Arial"/>
              </a:rPr>
              <a:t>MySQL</a:t>
            </a:r>
            <a:r>
              <a:rPr dirty="0" sz="1500" spc="-2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35" b="1">
                <a:solidFill>
                  <a:srgbClr val="0F172A"/>
                </a:solidFill>
                <a:latin typeface="Arial"/>
                <a:cs typeface="Arial"/>
              </a:rPr>
              <a:t>DB</a:t>
            </a:r>
            <a:endParaRPr sz="1500">
              <a:latin typeface="Arial"/>
              <a:cs typeface="Arial"/>
            </a:endParaRPr>
          </a:p>
          <a:p>
            <a:pPr algn="ctr" marL="12700" marR="5080">
              <a:lnSpc>
                <a:spcPts val="1400"/>
              </a:lnSpc>
              <a:spcBef>
                <a:spcPts val="335"/>
              </a:spcBef>
            </a:pPr>
            <a:r>
              <a:rPr dirty="0" sz="1200" spc="60">
                <a:solidFill>
                  <a:srgbClr val="475569"/>
                </a:solidFill>
                <a:latin typeface="Calibri"/>
                <a:cs typeface="Calibri"/>
              </a:rPr>
              <a:t>Saves</a:t>
            </a:r>
            <a:r>
              <a:rPr dirty="0" sz="1200" spc="409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transaction</a:t>
            </a:r>
            <a:r>
              <a:rPr dirty="0" sz="1200" spc="41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75569"/>
                </a:solidFill>
                <a:latin typeface="Calibri"/>
                <a:cs typeface="Calibri"/>
              </a:rPr>
              <a:t>record</a:t>
            </a:r>
            <a:r>
              <a:rPr dirty="0" sz="1200" spc="409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75569"/>
                </a:solidFill>
                <a:latin typeface="Calibri"/>
                <a:cs typeface="Calibri"/>
              </a:rPr>
              <a:t>into </a:t>
            </a:r>
            <a:r>
              <a:rPr dirty="0" sz="1200" spc="120">
                <a:solidFill>
                  <a:srgbClr val="475569"/>
                </a:solidFill>
                <a:latin typeface="Calibri"/>
                <a:cs typeface="Calibri"/>
              </a:rPr>
              <a:t>SQL</a:t>
            </a:r>
            <a:r>
              <a:rPr dirty="0" sz="1200" spc="19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75569"/>
                </a:solidFill>
                <a:latin typeface="Calibri"/>
                <a:cs typeface="Calibri"/>
              </a:rPr>
              <a:t>database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pc="45"/>
              <a:t>Database</a:t>
            </a:r>
            <a:r>
              <a:rPr dirty="0" spc="175"/>
              <a:t> </a:t>
            </a:r>
            <a:r>
              <a:rPr dirty="0" spc="-10" i="1">
                <a:solidFill>
                  <a:srgbClr val="FF3366"/>
                </a:solidFill>
                <a:latin typeface="Brush Script MT"/>
                <a:cs typeface="Brush Script MT"/>
              </a:rPr>
              <a:t>Schema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10326890" y="514350"/>
            <a:ext cx="1389380" cy="323850"/>
            <a:chOff x="10326890" y="514350"/>
            <a:chExt cx="1389380" cy="323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26890" y="514350"/>
              <a:ext cx="1388859" cy="3238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1111" y="609600"/>
              <a:ext cx="125758" cy="123825"/>
            </a:xfrm>
            <a:prstGeom prst="rect">
              <a:avLst/>
            </a:prstGeom>
          </p:spPr>
        </p:pic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82600" y="2654300"/>
          <a:ext cx="11280775" cy="2304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8314"/>
                <a:gridCol w="2496819"/>
                <a:gridCol w="2815590"/>
                <a:gridCol w="4135120"/>
              </a:tblGrid>
              <a:tr h="575945">
                <a:tc>
                  <a:txBody>
                    <a:bodyPr/>
                    <a:lstStyle/>
                    <a:p>
                      <a:pPr algn="ctr" marR="13398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dirty="0" sz="1700" spc="-155" b="1">
                          <a:solidFill>
                            <a:srgbClr val="FFD23F"/>
                          </a:solidFill>
                          <a:latin typeface="Arial"/>
                          <a:cs typeface="Arial"/>
                        </a:rPr>
                        <a:t>Table</a:t>
                      </a:r>
                      <a:r>
                        <a:rPr dirty="0" sz="1700" spc="-85" b="1">
                          <a:solidFill>
                            <a:srgbClr val="FFD2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FFD23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17526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795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dirty="0" sz="1700" spc="-20" b="1">
                          <a:solidFill>
                            <a:srgbClr val="FFD23F"/>
                          </a:solidFill>
                          <a:latin typeface="Arial"/>
                          <a:cs typeface="Arial"/>
                        </a:rPr>
                        <a:t>Keys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17526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dirty="0" sz="1700" spc="-70" b="1">
                          <a:solidFill>
                            <a:srgbClr val="FFD23F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700" spc="-95" b="1">
                          <a:solidFill>
                            <a:srgbClr val="FFD2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FFD23F"/>
                          </a:solidFill>
                          <a:latin typeface="Arial"/>
                          <a:cs typeface="Arial"/>
                        </a:rPr>
                        <a:t>Types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17526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2069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dirty="0" sz="1700" spc="-10" b="1">
                          <a:solidFill>
                            <a:srgbClr val="FFD23F"/>
                          </a:solidFill>
                          <a:latin typeface="Arial"/>
                          <a:cs typeface="Arial"/>
                        </a:rPr>
                        <a:t>Purpose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175260">
                    <a:solidFill>
                      <a:srgbClr val="0F172A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ctr" marR="133985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dirty="0" sz="1700" spc="-10" b="1">
                          <a:solidFill>
                            <a:srgbClr val="334155"/>
                          </a:solidFill>
                          <a:latin typeface="Cambria"/>
                          <a:cs typeface="Cambria"/>
                        </a:rPr>
                        <a:t>Users</a:t>
                      </a:r>
                      <a:endParaRPr sz="1700">
                        <a:latin typeface="Cambria"/>
                        <a:cs typeface="Cambria"/>
                      </a:endParaRPr>
                    </a:p>
                  </a:txBody>
                  <a:tcPr marL="0" marR="0" marB="0" marT="170815">
                    <a:lnB w="19050">
                      <a:solidFill>
                        <a:srgbClr val="F1F5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1079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user_id</a:t>
                      </a:r>
                      <a:r>
                        <a:rPr dirty="0" sz="1200" spc="-1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(PK)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B w="19050">
                      <a:solidFill>
                        <a:srgbClr val="F1F5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3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35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INT,</a:t>
                      </a:r>
                      <a:r>
                        <a:rPr dirty="0" sz="1200" spc="-3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VARCHAR,</a:t>
                      </a:r>
                      <a:r>
                        <a:rPr dirty="0" sz="1200" spc="-25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VARCHAR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B w="19050">
                      <a:solidFill>
                        <a:srgbClr val="F1F5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514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Stores</a:t>
                      </a:r>
                      <a:r>
                        <a:rPr dirty="0" sz="1200" spc="-2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credentials</a:t>
                      </a:r>
                      <a:r>
                        <a:rPr dirty="0" sz="1200" spc="-2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200" spc="-2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password</a:t>
                      </a:r>
                      <a:r>
                        <a:rPr dirty="0" sz="1200" spc="-25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hashes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B w="19050">
                      <a:solidFill>
                        <a:srgbClr val="F1F5F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ctr" marR="13398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700" spc="-1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Transactions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133985">
                    <a:lnT w="19050">
                      <a:solidFill>
                        <a:srgbClr val="F1F5F9"/>
                      </a:solidFill>
                      <a:prstDash val="solid"/>
                    </a:lnT>
                    <a:lnB w="19050">
                      <a:solidFill>
                        <a:srgbClr val="F1F5F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795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120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trans_id</a:t>
                      </a:r>
                      <a:r>
                        <a:rPr dirty="0" sz="1200" spc="-2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(PK),</a:t>
                      </a:r>
                      <a:r>
                        <a:rPr dirty="0" sz="1200" spc="-2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user_id</a:t>
                      </a:r>
                      <a:r>
                        <a:rPr dirty="0" sz="1200" spc="-15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(FK)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74625">
                    <a:lnT w="19050">
                      <a:solidFill>
                        <a:srgbClr val="F1F5F9"/>
                      </a:solidFill>
                      <a:prstDash val="solid"/>
                    </a:lnT>
                    <a:lnB w="19050">
                      <a:solidFill>
                        <a:srgbClr val="F1F5F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1200" spc="-35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INT,</a:t>
                      </a:r>
                      <a:r>
                        <a:rPr dirty="0" sz="1200" spc="-3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DECIMAL,</a:t>
                      </a:r>
                      <a:r>
                        <a:rPr dirty="0" sz="1200" spc="-25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ENUM,</a:t>
                      </a:r>
                      <a:r>
                        <a:rPr dirty="0" sz="1200" spc="-25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DATE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74625">
                    <a:lnT w="19050">
                      <a:solidFill>
                        <a:srgbClr val="F1F5F9"/>
                      </a:solidFill>
                      <a:prstDash val="solid"/>
                    </a:lnT>
                    <a:lnB w="19050">
                      <a:solidFill>
                        <a:srgbClr val="F1F5F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2069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Logs</a:t>
                      </a:r>
                      <a:r>
                        <a:rPr dirty="0" sz="1200" spc="-25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1200" spc="-25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individual</a:t>
                      </a:r>
                      <a:r>
                        <a:rPr dirty="0" sz="1200" spc="-25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income</a:t>
                      </a:r>
                      <a:r>
                        <a:rPr dirty="0" sz="1200" spc="-25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200" spc="-2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expense</a:t>
                      </a:r>
                      <a:r>
                        <a:rPr dirty="0" sz="1200" spc="-2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entries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74625">
                    <a:lnT w="19050">
                      <a:solidFill>
                        <a:srgbClr val="F1F5F9"/>
                      </a:solidFill>
                      <a:prstDash val="solid"/>
                    </a:lnT>
                    <a:lnB w="19050">
                      <a:solidFill>
                        <a:srgbClr val="F1F5F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ctr" marR="133985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dirty="0" sz="1700" spc="-1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Categories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148590">
                    <a:lnT w="19050">
                      <a:solidFill>
                        <a:srgbClr val="F1F5F9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107950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cat_id</a:t>
                      </a:r>
                      <a:r>
                        <a:rPr dirty="0" sz="1200" spc="-1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(PK)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335">
                    <a:lnT w="19050">
                      <a:solidFill>
                        <a:srgbClr val="F1F5F9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3810">
                        <a:lnSpc>
                          <a:spcPct val="100000"/>
                        </a:lnSpc>
                      </a:pPr>
                      <a:r>
                        <a:rPr dirty="0" sz="1200" spc="-35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INT,</a:t>
                      </a:r>
                      <a:r>
                        <a:rPr dirty="0" sz="1200" spc="-3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VARCHAR,</a:t>
                      </a:r>
                      <a:r>
                        <a:rPr dirty="0" sz="1200" spc="-25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DECIMAL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335">
                    <a:lnT w="19050">
                      <a:solidFill>
                        <a:srgbClr val="F1F5F9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R="52069">
                        <a:lnSpc>
                          <a:spcPct val="100000"/>
                        </a:lnSpc>
                      </a:pP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Defines</a:t>
                      </a:r>
                      <a:r>
                        <a:rPr dirty="0" sz="1200" spc="-25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spending</a:t>
                      </a:r>
                      <a:r>
                        <a:rPr dirty="0" sz="1200" spc="-25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buckets</a:t>
                      </a:r>
                      <a:r>
                        <a:rPr dirty="0" sz="1200" spc="-2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200" spc="-2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limit</a:t>
                      </a:r>
                      <a:r>
                        <a:rPr dirty="0" sz="1200" spc="-20" b="1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caps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3335">
                    <a:lnT w="19050">
                      <a:solidFill>
                        <a:srgbClr val="F1F5F9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10301605" y="398678"/>
            <a:ext cx="1368425" cy="323850"/>
            <a:chOff x="10301605" y="398678"/>
            <a:chExt cx="1368425" cy="32385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01605" y="398678"/>
              <a:ext cx="1367878" cy="3238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16413" y="493928"/>
              <a:ext cx="125758" cy="123825"/>
            </a:xfrm>
            <a:prstGeom prst="rect">
              <a:avLst/>
            </a:prstGeom>
          </p:spPr>
        </p:pic>
      </p:grp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225425" y="990295"/>
            <a:ext cx="182118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</a:t>
            </a:r>
            <a:r>
              <a:rPr dirty="0" spc="105"/>
              <a:t> </a:t>
            </a:r>
            <a:r>
              <a:rPr dirty="0" spc="-10" i="1">
                <a:solidFill>
                  <a:srgbClr val="FF3366"/>
                </a:solidFill>
                <a:latin typeface="Brush Script MT"/>
                <a:cs typeface="Brush Script MT"/>
              </a:rPr>
              <a:t>Workflow</a:t>
            </a:r>
          </a:p>
        </p:txBody>
      </p:sp>
      <p:sp>
        <p:nvSpPr>
          <p:cNvPr id="9" name="object 9"/>
          <p:cNvSpPr/>
          <p:nvPr/>
        </p:nvSpPr>
        <p:spPr>
          <a:xfrm>
            <a:off x="1038225" y="2888043"/>
            <a:ext cx="10115550" cy="38100"/>
          </a:xfrm>
          <a:custGeom>
            <a:avLst/>
            <a:gdLst/>
            <a:ahLst/>
            <a:cxnLst/>
            <a:rect l="l" t="t" r="r" b="b"/>
            <a:pathLst>
              <a:path w="10115550" h="38100">
                <a:moveTo>
                  <a:pt x="10115550" y="0"/>
                </a:moveTo>
                <a:lnTo>
                  <a:pt x="0" y="0"/>
                </a:lnTo>
                <a:lnTo>
                  <a:pt x="0" y="38100"/>
                </a:lnTo>
                <a:lnTo>
                  <a:pt x="10115550" y="38100"/>
                </a:lnTo>
                <a:lnTo>
                  <a:pt x="10115550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64919" y="3014662"/>
            <a:ext cx="495300" cy="4953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5334" y="3204602"/>
            <a:ext cx="143435" cy="14343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87151" y="3014662"/>
            <a:ext cx="495300" cy="4953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72293" y="3213566"/>
            <a:ext cx="116085" cy="11654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09396" y="3014662"/>
            <a:ext cx="495300" cy="4953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490371" y="3213566"/>
            <a:ext cx="124459" cy="12550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31640" y="3014662"/>
            <a:ext cx="495300" cy="4953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403090" y="3213566"/>
            <a:ext cx="143435" cy="12550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446" y="3617522"/>
            <a:ext cx="2492235" cy="101359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47427" y="3691106"/>
            <a:ext cx="1723389" cy="79057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513080">
              <a:lnSpc>
                <a:spcPct val="100000"/>
              </a:lnSpc>
              <a:spcBef>
                <a:spcPts val="595"/>
              </a:spcBef>
            </a:pPr>
            <a:r>
              <a:rPr dirty="0" sz="1700" spc="-105" b="1">
                <a:solidFill>
                  <a:srgbClr val="0F172A"/>
                </a:solidFill>
                <a:latin typeface="Arial"/>
                <a:cs typeface="Arial"/>
              </a:rPr>
              <a:t>1.</a:t>
            </a:r>
            <a:r>
              <a:rPr dirty="0" sz="1700" spc="-5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0F172A"/>
                </a:solidFill>
                <a:latin typeface="Arial"/>
                <a:cs typeface="Arial"/>
              </a:rPr>
              <a:t>Login</a:t>
            </a:r>
            <a:endParaRPr sz="1700">
              <a:latin typeface="Arial"/>
              <a:cs typeface="Arial"/>
            </a:endParaRPr>
          </a:p>
          <a:p>
            <a:pPr marL="116839" marR="5080" indent="-104775">
              <a:lnSpc>
                <a:spcPts val="1400"/>
              </a:lnSpc>
              <a:spcBef>
                <a:spcPts val="685"/>
              </a:spcBef>
            </a:pPr>
            <a:r>
              <a:rPr dirty="0" sz="1400" spc="60">
                <a:solidFill>
                  <a:srgbClr val="475569"/>
                </a:solidFill>
                <a:latin typeface="Calibri"/>
                <a:cs typeface="Calibri"/>
              </a:rPr>
              <a:t>User</a:t>
            </a:r>
            <a:r>
              <a:rPr dirty="0" sz="1400" spc="254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9"/>
                </a:solidFill>
                <a:latin typeface="Calibri"/>
                <a:cs typeface="Calibri"/>
              </a:rPr>
              <a:t>logs</a:t>
            </a:r>
            <a:r>
              <a:rPr dirty="0" sz="1400" spc="26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9"/>
                </a:solidFill>
                <a:latin typeface="Calibri"/>
                <a:cs typeface="Calibri"/>
              </a:rPr>
              <a:t>into</a:t>
            </a:r>
            <a:r>
              <a:rPr dirty="0" sz="1400" spc="26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 spc="45">
                <a:solidFill>
                  <a:srgbClr val="475569"/>
                </a:solidFill>
                <a:latin typeface="Calibri"/>
                <a:cs typeface="Calibri"/>
              </a:rPr>
              <a:t>secure </a:t>
            </a:r>
            <a:r>
              <a:rPr dirty="0" sz="1400">
                <a:solidFill>
                  <a:srgbClr val="475569"/>
                </a:solidFill>
                <a:latin typeface="Calibri"/>
                <a:cs typeface="Calibri"/>
              </a:rPr>
              <a:t>dashboard</a:t>
            </a:r>
            <a:r>
              <a:rPr dirty="0" sz="1400" spc="90">
                <a:solidFill>
                  <a:srgbClr val="475569"/>
                </a:solidFill>
                <a:latin typeface="Calibri"/>
                <a:cs typeface="Calibri"/>
              </a:rPr>
              <a:t>  </a:t>
            </a:r>
            <a:r>
              <a:rPr dirty="0" sz="1400" spc="-10">
                <a:solidFill>
                  <a:srgbClr val="475569"/>
                </a:solidFill>
                <a:latin typeface="Calibri"/>
                <a:cs typeface="Calibri"/>
              </a:rPr>
              <a:t>session.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0277" y="3621807"/>
            <a:ext cx="2489047" cy="100503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722496" y="3699289"/>
            <a:ext cx="1824989" cy="78232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313690">
              <a:lnSpc>
                <a:spcPct val="100000"/>
              </a:lnSpc>
              <a:spcBef>
                <a:spcPts val="560"/>
              </a:spcBef>
            </a:pPr>
            <a:r>
              <a:rPr dirty="0" sz="1700" b="1">
                <a:solidFill>
                  <a:srgbClr val="0F172A"/>
                </a:solidFill>
                <a:latin typeface="Arial"/>
                <a:cs typeface="Arial"/>
              </a:rPr>
              <a:t>2.</a:t>
            </a:r>
            <a:r>
              <a:rPr dirty="0" sz="1700" spc="-4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700" spc="-140" b="1">
                <a:solidFill>
                  <a:srgbClr val="0F172A"/>
                </a:solidFill>
                <a:latin typeface="Arial"/>
                <a:cs typeface="Arial"/>
              </a:rPr>
              <a:t>Add</a:t>
            </a:r>
            <a:r>
              <a:rPr dirty="0" sz="1700" spc="-4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0F172A"/>
                </a:solidFill>
                <a:latin typeface="Arial"/>
                <a:cs typeface="Arial"/>
              </a:rPr>
              <a:t>Entry</a:t>
            </a:r>
            <a:endParaRPr sz="1700">
              <a:latin typeface="Arial"/>
              <a:cs typeface="Arial"/>
            </a:endParaRPr>
          </a:p>
          <a:p>
            <a:pPr marL="376555" marR="5080" indent="-364490">
              <a:lnSpc>
                <a:spcPts val="1400"/>
              </a:lnSpc>
              <a:spcBef>
                <a:spcPts val="660"/>
              </a:spcBef>
            </a:pPr>
            <a:r>
              <a:rPr dirty="0" sz="1400" spc="80">
                <a:solidFill>
                  <a:srgbClr val="475569"/>
                </a:solidFill>
                <a:latin typeface="Calibri"/>
                <a:cs typeface="Calibri"/>
              </a:rPr>
              <a:t>Select</a:t>
            </a:r>
            <a:r>
              <a:rPr dirty="0" sz="1400" spc="17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9"/>
                </a:solidFill>
                <a:latin typeface="Calibri"/>
                <a:cs typeface="Calibri"/>
              </a:rPr>
              <a:t>amount,</a:t>
            </a:r>
            <a:r>
              <a:rPr dirty="0" sz="1400" spc="17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 spc="80">
                <a:solidFill>
                  <a:srgbClr val="475569"/>
                </a:solidFill>
                <a:latin typeface="Calibri"/>
                <a:cs typeface="Calibri"/>
              </a:rPr>
              <a:t>type</a:t>
            </a:r>
            <a:r>
              <a:rPr dirty="0" sz="1400" spc="17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475569"/>
                </a:solidFill>
                <a:latin typeface="Calibri"/>
                <a:cs typeface="Calibri"/>
              </a:rPr>
              <a:t>&amp; </a:t>
            </a:r>
            <a:r>
              <a:rPr dirty="0" sz="1400" spc="60">
                <a:solidFill>
                  <a:srgbClr val="475569"/>
                </a:solidFill>
                <a:latin typeface="Calibri"/>
                <a:cs typeface="Calibri"/>
              </a:rPr>
              <a:t>category</a:t>
            </a:r>
            <a:r>
              <a:rPr dirty="0" sz="1400" spc="21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475569"/>
                </a:solidFill>
                <a:latin typeface="Calibri"/>
                <a:cs typeface="Calibri"/>
              </a:rPr>
              <a:t>tag.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0922" y="3617522"/>
            <a:ext cx="2492235" cy="10135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502692" y="3691106"/>
            <a:ext cx="2101215" cy="79057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481965">
              <a:lnSpc>
                <a:spcPct val="100000"/>
              </a:lnSpc>
              <a:spcBef>
                <a:spcPts val="595"/>
              </a:spcBef>
            </a:pPr>
            <a:r>
              <a:rPr dirty="0" sz="1700" spc="-55" b="1">
                <a:solidFill>
                  <a:srgbClr val="0F172A"/>
                </a:solidFill>
                <a:latin typeface="Arial"/>
                <a:cs typeface="Arial"/>
              </a:rPr>
              <a:t>3.</a:t>
            </a:r>
            <a:r>
              <a:rPr dirty="0" sz="1700" spc="-4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700" spc="-140" b="1">
                <a:solidFill>
                  <a:srgbClr val="0F172A"/>
                </a:solidFill>
                <a:latin typeface="Arial"/>
                <a:cs typeface="Arial"/>
              </a:rPr>
              <a:t>Save</a:t>
            </a:r>
            <a:r>
              <a:rPr dirty="0" sz="1700" spc="-4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0F172A"/>
                </a:solidFill>
                <a:latin typeface="Arial"/>
                <a:cs typeface="Arial"/>
              </a:rPr>
              <a:t>Data</a:t>
            </a:r>
            <a:endParaRPr sz="1700">
              <a:latin typeface="Arial"/>
              <a:cs typeface="Arial"/>
            </a:endParaRPr>
          </a:p>
          <a:p>
            <a:pPr marL="606425" marR="5080" indent="-594360">
              <a:lnSpc>
                <a:spcPts val="1400"/>
              </a:lnSpc>
              <a:spcBef>
                <a:spcPts val="685"/>
              </a:spcBef>
            </a:pPr>
            <a:r>
              <a:rPr dirty="0" sz="1400">
                <a:solidFill>
                  <a:srgbClr val="475569"/>
                </a:solidFill>
                <a:latin typeface="Calibri"/>
                <a:cs typeface="Calibri"/>
              </a:rPr>
              <a:t>Backend</a:t>
            </a:r>
            <a:r>
              <a:rPr dirty="0" sz="1400" spc="29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9"/>
                </a:solidFill>
                <a:latin typeface="Calibri"/>
                <a:cs typeface="Calibri"/>
              </a:rPr>
              <a:t>commits</a:t>
            </a:r>
            <a:r>
              <a:rPr dirty="0" sz="1400" spc="29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 spc="75">
                <a:solidFill>
                  <a:srgbClr val="475569"/>
                </a:solidFill>
                <a:latin typeface="Calibri"/>
                <a:cs typeface="Calibri"/>
              </a:rPr>
              <a:t>entry</a:t>
            </a:r>
            <a:r>
              <a:rPr dirty="0" sz="1400" spc="30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75569"/>
                </a:solidFill>
                <a:latin typeface="Calibri"/>
                <a:cs typeface="Calibri"/>
              </a:rPr>
              <a:t>to </a:t>
            </a:r>
            <a:r>
              <a:rPr dirty="0" sz="1400" spc="95">
                <a:solidFill>
                  <a:srgbClr val="475569"/>
                </a:solidFill>
                <a:latin typeface="Calibri"/>
                <a:cs typeface="Calibri"/>
              </a:rPr>
              <a:t>MySQL</a:t>
            </a:r>
            <a:r>
              <a:rPr dirty="0" sz="1400" spc="229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75569"/>
                </a:solidFill>
                <a:latin typeface="Calibri"/>
                <a:cs typeface="Calibri"/>
              </a:rPr>
              <a:t>DB.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34766" y="3621807"/>
            <a:ext cx="2489047" cy="100503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657333" y="3699289"/>
            <a:ext cx="1651635" cy="78232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560"/>
              </a:spcBef>
            </a:pPr>
            <a:r>
              <a:rPr dirty="0" sz="1700" b="1">
                <a:solidFill>
                  <a:srgbClr val="0F172A"/>
                </a:solidFill>
                <a:latin typeface="Arial"/>
                <a:cs typeface="Arial"/>
              </a:rPr>
              <a:t>4.</a:t>
            </a:r>
            <a:r>
              <a:rPr dirty="0" sz="1700" spc="-5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F172A"/>
                </a:solidFill>
                <a:latin typeface="Arial"/>
                <a:cs typeface="Arial"/>
              </a:rPr>
              <a:t>Auto-</a:t>
            </a:r>
            <a:r>
              <a:rPr dirty="0" sz="1700" spc="-10" b="1">
                <a:solidFill>
                  <a:srgbClr val="0F172A"/>
                </a:solidFill>
                <a:latin typeface="Arial"/>
                <a:cs typeface="Arial"/>
              </a:rPr>
              <a:t>Report</a:t>
            </a:r>
            <a:endParaRPr sz="1700">
              <a:latin typeface="Arial"/>
              <a:cs typeface="Arial"/>
            </a:endParaRPr>
          </a:p>
          <a:p>
            <a:pPr marL="201930" marR="5080" indent="-189865">
              <a:lnSpc>
                <a:spcPts val="1400"/>
              </a:lnSpc>
              <a:spcBef>
                <a:spcPts val="660"/>
              </a:spcBef>
            </a:pPr>
            <a:r>
              <a:rPr dirty="0" sz="1400" spc="75">
                <a:solidFill>
                  <a:srgbClr val="475569"/>
                </a:solidFill>
                <a:latin typeface="Calibri"/>
                <a:cs typeface="Calibri"/>
              </a:rPr>
              <a:t>Charts</a:t>
            </a:r>
            <a:r>
              <a:rPr dirty="0" sz="1400" spc="24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75569"/>
                </a:solidFill>
                <a:latin typeface="Calibri"/>
                <a:cs typeface="Calibri"/>
              </a:rPr>
              <a:t>and</a:t>
            </a:r>
            <a:r>
              <a:rPr dirty="0" sz="1400" spc="250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75569"/>
                </a:solidFill>
                <a:latin typeface="Calibri"/>
                <a:cs typeface="Calibri"/>
              </a:rPr>
              <a:t>balances </a:t>
            </a:r>
            <a:r>
              <a:rPr dirty="0" sz="1400" spc="45">
                <a:solidFill>
                  <a:srgbClr val="475569"/>
                </a:solidFill>
                <a:latin typeface="Calibri"/>
                <a:cs typeface="Calibri"/>
              </a:rPr>
              <a:t>recalculate</a:t>
            </a:r>
            <a:r>
              <a:rPr dirty="0" sz="1400" spc="215">
                <a:solidFill>
                  <a:srgbClr val="475569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75569"/>
                </a:solidFill>
                <a:latin typeface="Calibri"/>
                <a:cs typeface="Calibri"/>
              </a:rPr>
              <a:t>live.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System</a:t>
            </a:r>
            <a:r>
              <a:rPr dirty="0" spc="75"/>
              <a:t> </a:t>
            </a:r>
            <a:r>
              <a:rPr dirty="0" spc="-10" i="1">
                <a:solidFill>
                  <a:srgbClr val="FF3366"/>
                </a:solidFill>
                <a:latin typeface="Brush Script MT"/>
                <a:cs typeface="Brush Script MT"/>
              </a:rPr>
              <a:t>Advantages</a:t>
            </a: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94582" y="467589"/>
            <a:ext cx="1727822" cy="41735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697" y="2867291"/>
            <a:ext cx="3669258" cy="188541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1034" y="3157945"/>
            <a:ext cx="447229" cy="44722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7703" y="3274607"/>
            <a:ext cx="213892" cy="21389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049437" y="3729037"/>
            <a:ext cx="485775" cy="161925"/>
            <a:chOff x="2049437" y="3729037"/>
            <a:chExt cx="485775" cy="161925"/>
          </a:xfrm>
        </p:grpSpPr>
        <p:sp>
          <p:nvSpPr>
            <p:cNvPr id="7" name="object 7"/>
            <p:cNvSpPr/>
            <p:nvPr/>
          </p:nvSpPr>
          <p:spPr>
            <a:xfrm>
              <a:off x="2054199" y="3733800"/>
              <a:ext cx="476250" cy="152400"/>
            </a:xfrm>
            <a:custGeom>
              <a:avLst/>
              <a:gdLst/>
              <a:ahLst/>
              <a:cxnLst/>
              <a:rect l="l" t="t" r="r" b="b"/>
              <a:pathLst>
                <a:path w="476250" h="152400">
                  <a:moveTo>
                    <a:pt x="47625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476250" y="152400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54199" y="3733800"/>
              <a:ext cx="476250" cy="152400"/>
            </a:xfrm>
            <a:custGeom>
              <a:avLst/>
              <a:gdLst/>
              <a:ahLst/>
              <a:cxnLst/>
              <a:rect l="l" t="t" r="r" b="b"/>
              <a:pathLst>
                <a:path w="476250" h="152400">
                  <a:moveTo>
                    <a:pt x="0" y="0"/>
                  </a:moveTo>
                  <a:lnTo>
                    <a:pt x="476250" y="0"/>
                  </a:lnTo>
                  <a:lnTo>
                    <a:pt x="47625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90303" y="3633533"/>
            <a:ext cx="234823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30" b="1">
                <a:solidFill>
                  <a:srgbClr val="0F172A"/>
                </a:solidFill>
                <a:latin typeface="Arial"/>
                <a:cs typeface="Arial"/>
              </a:rPr>
              <a:t>Complete</a:t>
            </a:r>
            <a:r>
              <a:rPr dirty="0" sz="1700" spc="1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700" spc="-130" b="1">
                <a:solidFill>
                  <a:srgbClr val="0F172A"/>
                </a:solidFill>
                <a:latin typeface="Arial"/>
                <a:cs typeface="Arial"/>
              </a:rPr>
              <a:t>Budget</a:t>
            </a:r>
            <a:r>
              <a:rPr dirty="0" sz="1700" spc="1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0F172A"/>
                </a:solidFill>
                <a:latin typeface="Arial"/>
                <a:cs typeface="Arial"/>
              </a:rPr>
              <a:t>Control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086" y="3972915"/>
            <a:ext cx="30416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400" spc="100">
                <a:solidFill>
                  <a:srgbClr val="334155"/>
                </a:solidFill>
                <a:latin typeface="Calibri"/>
                <a:cs typeface="Calibri"/>
              </a:rPr>
              <a:t>Set</a:t>
            </a:r>
            <a:r>
              <a:rPr dirty="0" sz="1400" spc="3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334155"/>
                </a:solidFill>
                <a:latin typeface="Calibri"/>
                <a:cs typeface="Calibri"/>
              </a:rPr>
              <a:t>clear</a:t>
            </a:r>
            <a:r>
              <a:rPr dirty="0" sz="1400" spc="3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spending</a:t>
            </a:r>
            <a:r>
              <a:rPr dirty="0" sz="1400" spc="36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boundaries</a:t>
            </a:r>
            <a:r>
              <a:rPr dirty="0" sz="1400" spc="3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before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you</a:t>
            </a:r>
            <a:r>
              <a:rPr dirty="0" sz="1400" spc="31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run</a:t>
            </a:r>
            <a:r>
              <a:rPr dirty="0" sz="1400" spc="31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out</a:t>
            </a:r>
            <a:r>
              <a:rPr dirty="0" sz="1400" spc="31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55">
                <a:solidFill>
                  <a:srgbClr val="334155"/>
                </a:solidFill>
                <a:latin typeface="Calibri"/>
                <a:cs typeface="Calibri"/>
              </a:rPr>
              <a:t>of</a:t>
            </a:r>
            <a:r>
              <a:rPr dirty="0" sz="1400" spc="31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funds</a:t>
            </a:r>
            <a:r>
              <a:rPr dirty="0" sz="1400" spc="31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50">
                <a:solidFill>
                  <a:srgbClr val="334155"/>
                </a:solidFill>
                <a:latin typeface="Calibri"/>
                <a:cs typeface="Calibri"/>
              </a:rPr>
              <a:t>mid-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month.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4329" y="2873565"/>
            <a:ext cx="3663175" cy="187286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12843" y="3106117"/>
            <a:ext cx="445729" cy="44572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29124" y="3222404"/>
            <a:ext cx="213174" cy="2131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484192" y="3497490"/>
            <a:ext cx="3020060" cy="961390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215"/>
              </a:spcBef>
            </a:pPr>
            <a:r>
              <a:rPr dirty="0" sz="1700" spc="-80" b="1">
                <a:solidFill>
                  <a:srgbClr val="0F172A"/>
                </a:solidFill>
                <a:latin typeface="Arial"/>
                <a:cs typeface="Arial"/>
              </a:rPr>
              <a:t>Financial</a:t>
            </a:r>
            <a:r>
              <a:rPr dirty="0" sz="1700" spc="2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0F172A"/>
                </a:solidFill>
                <a:latin typeface="Arial"/>
                <a:cs typeface="Arial"/>
              </a:rPr>
              <a:t>Awareness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5399"/>
              </a:lnSpc>
              <a:spcBef>
                <a:spcPts val="610"/>
              </a:spcBef>
            </a:pPr>
            <a:r>
              <a:rPr dirty="0" sz="1300" spc="50">
                <a:solidFill>
                  <a:srgbClr val="334155"/>
                </a:solidFill>
                <a:latin typeface="Calibri"/>
                <a:cs typeface="Calibri"/>
              </a:rPr>
              <a:t>Spot</a:t>
            </a:r>
            <a:r>
              <a:rPr dirty="0" sz="1300" spc="39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useless</a:t>
            </a:r>
            <a:r>
              <a:rPr dirty="0" sz="1300" spc="39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subscriptions</a:t>
            </a:r>
            <a:r>
              <a:rPr dirty="0" sz="1300" spc="39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dirty="0" sz="1300" spc="39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334155"/>
                </a:solidFill>
                <a:latin typeface="Calibri"/>
                <a:cs typeface="Calibri"/>
              </a:rPr>
              <a:t>impulsive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habits</a:t>
            </a:r>
            <a:r>
              <a:rPr dirty="0" sz="13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with</a:t>
            </a:r>
            <a:r>
              <a:rPr dirty="0" sz="13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60">
                <a:solidFill>
                  <a:srgbClr val="334155"/>
                </a:solidFill>
                <a:latin typeface="Calibri"/>
                <a:cs typeface="Calibri"/>
              </a:rPr>
              <a:t>clear</a:t>
            </a:r>
            <a:r>
              <a:rPr dirty="0" sz="13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visual</a:t>
            </a:r>
            <a:r>
              <a:rPr dirty="0" sz="13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334155"/>
                </a:solidFill>
                <a:latin typeface="Calibri"/>
                <a:cs typeface="Calibri"/>
              </a:rPr>
              <a:t>pie</a:t>
            </a:r>
            <a:r>
              <a:rPr dirty="0" sz="13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300" spc="50">
                <a:solidFill>
                  <a:srgbClr val="334155"/>
                </a:solidFill>
                <a:latin typeface="Calibri"/>
                <a:cs typeface="Calibri"/>
              </a:rPr>
              <a:t>charts.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70989" y="2879864"/>
            <a:ext cx="3657066" cy="186028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02764" y="3149837"/>
            <a:ext cx="444225" cy="4442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32939" y="3265928"/>
            <a:ext cx="183882" cy="21205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298040" y="3528546"/>
            <a:ext cx="3178175" cy="93853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700" spc="135" b="1">
                <a:solidFill>
                  <a:srgbClr val="0F172A"/>
                </a:solidFill>
                <a:latin typeface="Arial"/>
                <a:cs typeface="Arial"/>
              </a:rPr>
              <a:t>5-</a:t>
            </a:r>
            <a:r>
              <a:rPr dirty="0" sz="1700" spc="-155" b="1">
                <a:solidFill>
                  <a:srgbClr val="0F172A"/>
                </a:solidFill>
                <a:latin typeface="Arial"/>
                <a:cs typeface="Arial"/>
              </a:rPr>
              <a:t>Second</a:t>
            </a:r>
            <a:r>
              <a:rPr dirty="0" sz="1700" spc="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0F172A"/>
                </a:solidFill>
                <a:latin typeface="Arial"/>
                <a:cs typeface="Arial"/>
              </a:rPr>
              <a:t>Logging</a:t>
            </a:r>
            <a:endParaRPr sz="1700">
              <a:latin typeface="Arial"/>
              <a:cs typeface="Arial"/>
            </a:endParaRPr>
          </a:p>
          <a:p>
            <a:pPr marL="17145" marR="5080">
              <a:lnSpc>
                <a:spcPct val="107100"/>
              </a:lnSpc>
              <a:spcBef>
                <a:spcPts val="635"/>
              </a:spcBef>
            </a:pP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Takes</a:t>
            </a:r>
            <a:r>
              <a:rPr dirty="0" sz="1400" spc="33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seconds</a:t>
            </a:r>
            <a:r>
              <a:rPr dirty="0" sz="1400" spc="33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dirty="0" sz="14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input</a:t>
            </a:r>
            <a:r>
              <a:rPr dirty="0" sz="1400" spc="33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35">
                <a:solidFill>
                  <a:srgbClr val="334155"/>
                </a:solidFill>
                <a:latin typeface="Calibri"/>
                <a:cs typeface="Calibri"/>
              </a:rPr>
              <a:t>transactions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compared</a:t>
            </a:r>
            <a:r>
              <a:rPr dirty="0" sz="1400" spc="31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dirty="0" sz="1400" spc="32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clunky,</a:t>
            </a:r>
            <a:r>
              <a:rPr dirty="0" sz="1400" spc="32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4155"/>
                </a:solidFill>
                <a:latin typeface="Calibri"/>
                <a:cs typeface="Calibri"/>
              </a:rPr>
              <a:t>slow</a:t>
            </a:r>
            <a:r>
              <a:rPr dirty="0" sz="1400" spc="32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34155"/>
                </a:solidFill>
                <a:latin typeface="Calibri"/>
                <a:cs typeface="Calibri"/>
              </a:rPr>
              <a:t>spreadsheets.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Future</a:t>
            </a:r>
            <a:r>
              <a:rPr dirty="0" spc="155"/>
              <a:t> </a:t>
            </a:r>
            <a:r>
              <a:rPr dirty="0" spc="-10" i="1">
                <a:solidFill>
                  <a:srgbClr val="FF3366"/>
                </a:solidFill>
                <a:latin typeface="Brush Script MT"/>
                <a:cs typeface="Brush Script MT"/>
              </a:rPr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0819" y="514350"/>
            <a:ext cx="1144934" cy="3238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63368" y="2381313"/>
            <a:ext cx="6019165" cy="866775"/>
            <a:chOff x="463368" y="2381313"/>
            <a:chExt cx="6019165" cy="866775"/>
          </a:xfrm>
        </p:grpSpPr>
        <p:sp>
          <p:nvSpPr>
            <p:cNvPr id="5" name="object 5"/>
            <p:cNvSpPr/>
            <p:nvPr/>
          </p:nvSpPr>
          <p:spPr>
            <a:xfrm>
              <a:off x="472893" y="2390838"/>
              <a:ext cx="6000115" cy="847725"/>
            </a:xfrm>
            <a:custGeom>
              <a:avLst/>
              <a:gdLst/>
              <a:ahLst/>
              <a:cxnLst/>
              <a:rect l="l" t="t" r="r" b="b"/>
              <a:pathLst>
                <a:path w="6000115" h="847725">
                  <a:moveTo>
                    <a:pt x="5847325" y="0"/>
                  </a:moveTo>
                  <a:lnTo>
                    <a:pt x="152398" y="0"/>
                  </a:lnTo>
                  <a:lnTo>
                    <a:pt x="104228" y="7768"/>
                  </a:lnTo>
                  <a:lnTo>
                    <a:pt x="62393" y="29402"/>
                  </a:lnTo>
                  <a:lnTo>
                    <a:pt x="29403" y="62391"/>
                  </a:lnTo>
                  <a:lnTo>
                    <a:pt x="7769" y="104226"/>
                  </a:lnTo>
                  <a:lnTo>
                    <a:pt x="0" y="152400"/>
                  </a:lnTo>
                  <a:lnTo>
                    <a:pt x="0" y="695198"/>
                  </a:lnTo>
                  <a:lnTo>
                    <a:pt x="7769" y="743371"/>
                  </a:lnTo>
                  <a:lnTo>
                    <a:pt x="29403" y="785206"/>
                  </a:lnTo>
                  <a:lnTo>
                    <a:pt x="62393" y="818195"/>
                  </a:lnTo>
                  <a:lnTo>
                    <a:pt x="104228" y="839829"/>
                  </a:lnTo>
                  <a:lnTo>
                    <a:pt x="152398" y="847598"/>
                  </a:lnTo>
                  <a:lnTo>
                    <a:pt x="5847325" y="847598"/>
                  </a:lnTo>
                  <a:lnTo>
                    <a:pt x="5895493" y="839829"/>
                  </a:lnTo>
                  <a:lnTo>
                    <a:pt x="5937328" y="818195"/>
                  </a:lnTo>
                  <a:lnTo>
                    <a:pt x="5970319" y="785206"/>
                  </a:lnTo>
                  <a:lnTo>
                    <a:pt x="5991955" y="743371"/>
                  </a:lnTo>
                  <a:lnTo>
                    <a:pt x="5999725" y="695198"/>
                  </a:lnTo>
                  <a:lnTo>
                    <a:pt x="5999725" y="152400"/>
                  </a:lnTo>
                  <a:lnTo>
                    <a:pt x="5991955" y="104226"/>
                  </a:lnTo>
                  <a:lnTo>
                    <a:pt x="5970319" y="62391"/>
                  </a:lnTo>
                  <a:lnTo>
                    <a:pt x="5937328" y="29402"/>
                  </a:lnTo>
                  <a:lnTo>
                    <a:pt x="5895493" y="7768"/>
                  </a:lnTo>
                  <a:lnTo>
                    <a:pt x="58473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2893" y="2390838"/>
              <a:ext cx="6000115" cy="847725"/>
            </a:xfrm>
            <a:custGeom>
              <a:avLst/>
              <a:gdLst/>
              <a:ahLst/>
              <a:cxnLst/>
              <a:rect l="l" t="t" r="r" b="b"/>
              <a:pathLst>
                <a:path w="6000115" h="847725">
                  <a:moveTo>
                    <a:pt x="152398" y="0"/>
                  </a:moveTo>
                  <a:lnTo>
                    <a:pt x="5847321" y="0"/>
                  </a:lnTo>
                  <a:lnTo>
                    <a:pt x="5895494" y="7769"/>
                  </a:lnTo>
                  <a:lnTo>
                    <a:pt x="5937329" y="29404"/>
                  </a:lnTo>
                  <a:lnTo>
                    <a:pt x="5970319" y="62394"/>
                  </a:lnTo>
                  <a:lnTo>
                    <a:pt x="5991952" y="104229"/>
                  </a:lnTo>
                  <a:lnTo>
                    <a:pt x="5999721" y="152398"/>
                  </a:lnTo>
                  <a:lnTo>
                    <a:pt x="5999721" y="695205"/>
                  </a:lnTo>
                  <a:lnTo>
                    <a:pt x="5991952" y="743375"/>
                  </a:lnTo>
                  <a:lnTo>
                    <a:pt x="5970319" y="785210"/>
                  </a:lnTo>
                  <a:lnTo>
                    <a:pt x="5937329" y="818201"/>
                  </a:lnTo>
                  <a:lnTo>
                    <a:pt x="5895494" y="839836"/>
                  </a:lnTo>
                  <a:lnTo>
                    <a:pt x="5847321" y="847605"/>
                  </a:lnTo>
                  <a:lnTo>
                    <a:pt x="152398" y="847605"/>
                  </a:lnTo>
                  <a:lnTo>
                    <a:pt x="104229" y="839836"/>
                  </a:lnTo>
                  <a:lnTo>
                    <a:pt x="62394" y="818201"/>
                  </a:lnTo>
                  <a:lnTo>
                    <a:pt x="29404" y="785210"/>
                  </a:lnTo>
                  <a:lnTo>
                    <a:pt x="7769" y="743375"/>
                  </a:lnTo>
                  <a:lnTo>
                    <a:pt x="0" y="695205"/>
                  </a:lnTo>
                  <a:lnTo>
                    <a:pt x="0" y="152398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8" y="0"/>
                  </a:lnTo>
                  <a:close/>
                </a:path>
              </a:pathLst>
            </a:custGeom>
            <a:ln w="19050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61464" y="3294329"/>
            <a:ext cx="6022975" cy="898525"/>
            <a:chOff x="461464" y="3294329"/>
            <a:chExt cx="6022975" cy="898525"/>
          </a:xfrm>
        </p:grpSpPr>
        <p:sp>
          <p:nvSpPr>
            <p:cNvPr id="8" name="object 8"/>
            <p:cNvSpPr/>
            <p:nvPr/>
          </p:nvSpPr>
          <p:spPr>
            <a:xfrm>
              <a:off x="470989" y="3303854"/>
              <a:ext cx="6003925" cy="879475"/>
            </a:xfrm>
            <a:custGeom>
              <a:avLst/>
              <a:gdLst/>
              <a:ahLst/>
              <a:cxnLst/>
              <a:rect l="l" t="t" r="r" b="b"/>
              <a:pathLst>
                <a:path w="6003925" h="879475">
                  <a:moveTo>
                    <a:pt x="5851133" y="0"/>
                  </a:moveTo>
                  <a:lnTo>
                    <a:pt x="152397" y="0"/>
                  </a:lnTo>
                  <a:lnTo>
                    <a:pt x="104228" y="7769"/>
                  </a:lnTo>
                  <a:lnTo>
                    <a:pt x="62393" y="29405"/>
                  </a:lnTo>
                  <a:lnTo>
                    <a:pt x="29403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726541"/>
                  </a:lnTo>
                  <a:lnTo>
                    <a:pt x="7769" y="774709"/>
                  </a:lnTo>
                  <a:lnTo>
                    <a:pt x="29403" y="816544"/>
                  </a:lnTo>
                  <a:lnTo>
                    <a:pt x="62393" y="849535"/>
                  </a:lnTo>
                  <a:lnTo>
                    <a:pt x="104228" y="871171"/>
                  </a:lnTo>
                  <a:lnTo>
                    <a:pt x="152397" y="878941"/>
                  </a:lnTo>
                  <a:lnTo>
                    <a:pt x="5851133" y="878941"/>
                  </a:lnTo>
                  <a:lnTo>
                    <a:pt x="5899301" y="871171"/>
                  </a:lnTo>
                  <a:lnTo>
                    <a:pt x="5941137" y="849535"/>
                  </a:lnTo>
                  <a:lnTo>
                    <a:pt x="5974127" y="816544"/>
                  </a:lnTo>
                  <a:lnTo>
                    <a:pt x="5995763" y="774709"/>
                  </a:lnTo>
                  <a:lnTo>
                    <a:pt x="6003533" y="726541"/>
                  </a:lnTo>
                  <a:lnTo>
                    <a:pt x="6003533" y="152400"/>
                  </a:lnTo>
                  <a:lnTo>
                    <a:pt x="5995763" y="104231"/>
                  </a:lnTo>
                  <a:lnTo>
                    <a:pt x="5974127" y="62396"/>
                  </a:lnTo>
                  <a:lnTo>
                    <a:pt x="5941137" y="29405"/>
                  </a:lnTo>
                  <a:lnTo>
                    <a:pt x="5899301" y="7769"/>
                  </a:lnTo>
                  <a:lnTo>
                    <a:pt x="5851133" y="0"/>
                  </a:lnTo>
                  <a:close/>
                </a:path>
              </a:pathLst>
            </a:custGeom>
            <a:solidFill>
              <a:srgbClr val="F8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70989" y="3303854"/>
              <a:ext cx="6003925" cy="879475"/>
            </a:xfrm>
            <a:custGeom>
              <a:avLst/>
              <a:gdLst/>
              <a:ahLst/>
              <a:cxnLst/>
              <a:rect l="l" t="t" r="r" b="b"/>
              <a:pathLst>
                <a:path w="6003925" h="879475">
                  <a:moveTo>
                    <a:pt x="152398" y="0"/>
                  </a:moveTo>
                  <a:lnTo>
                    <a:pt x="5851131" y="0"/>
                  </a:lnTo>
                  <a:lnTo>
                    <a:pt x="5899299" y="7769"/>
                  </a:lnTo>
                  <a:lnTo>
                    <a:pt x="5941134" y="29404"/>
                  </a:lnTo>
                  <a:lnTo>
                    <a:pt x="5974125" y="62393"/>
                  </a:lnTo>
                  <a:lnTo>
                    <a:pt x="5995761" y="104228"/>
                  </a:lnTo>
                  <a:lnTo>
                    <a:pt x="6003531" y="152398"/>
                  </a:lnTo>
                  <a:lnTo>
                    <a:pt x="6003531" y="726536"/>
                  </a:lnTo>
                  <a:lnTo>
                    <a:pt x="5995761" y="774706"/>
                  </a:lnTo>
                  <a:lnTo>
                    <a:pt x="5974125" y="816540"/>
                  </a:lnTo>
                  <a:lnTo>
                    <a:pt x="5941134" y="849530"/>
                  </a:lnTo>
                  <a:lnTo>
                    <a:pt x="5899299" y="871165"/>
                  </a:lnTo>
                  <a:lnTo>
                    <a:pt x="5851131" y="878935"/>
                  </a:lnTo>
                  <a:lnTo>
                    <a:pt x="152398" y="878935"/>
                  </a:lnTo>
                  <a:lnTo>
                    <a:pt x="104228" y="871165"/>
                  </a:lnTo>
                  <a:lnTo>
                    <a:pt x="62393" y="849530"/>
                  </a:lnTo>
                  <a:lnTo>
                    <a:pt x="29404" y="816540"/>
                  </a:lnTo>
                  <a:lnTo>
                    <a:pt x="7769" y="774706"/>
                  </a:lnTo>
                  <a:lnTo>
                    <a:pt x="0" y="726536"/>
                  </a:lnTo>
                  <a:lnTo>
                    <a:pt x="0" y="152398"/>
                  </a:lnTo>
                  <a:lnTo>
                    <a:pt x="7769" y="104228"/>
                  </a:lnTo>
                  <a:lnTo>
                    <a:pt x="29404" y="62393"/>
                  </a:lnTo>
                  <a:lnTo>
                    <a:pt x="62393" y="29404"/>
                  </a:lnTo>
                  <a:lnTo>
                    <a:pt x="104228" y="7769"/>
                  </a:lnTo>
                  <a:lnTo>
                    <a:pt x="152398" y="0"/>
                  </a:lnTo>
                  <a:close/>
                </a:path>
              </a:pathLst>
            </a:custGeom>
            <a:ln w="19050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62724" y="4233455"/>
            <a:ext cx="6020435" cy="877569"/>
            <a:chOff x="462724" y="4233455"/>
            <a:chExt cx="6020435" cy="877569"/>
          </a:xfrm>
        </p:grpSpPr>
        <p:sp>
          <p:nvSpPr>
            <p:cNvPr id="11" name="object 11"/>
            <p:cNvSpPr/>
            <p:nvPr/>
          </p:nvSpPr>
          <p:spPr>
            <a:xfrm>
              <a:off x="472249" y="4242980"/>
              <a:ext cx="6001385" cy="858519"/>
            </a:xfrm>
            <a:custGeom>
              <a:avLst/>
              <a:gdLst/>
              <a:ahLst/>
              <a:cxnLst/>
              <a:rect l="l" t="t" r="r" b="b"/>
              <a:pathLst>
                <a:path w="6001385" h="858520">
                  <a:moveTo>
                    <a:pt x="5848616" y="0"/>
                  </a:moveTo>
                  <a:lnTo>
                    <a:pt x="152397" y="0"/>
                  </a:lnTo>
                  <a:lnTo>
                    <a:pt x="104228" y="7769"/>
                  </a:lnTo>
                  <a:lnTo>
                    <a:pt x="62393" y="29405"/>
                  </a:lnTo>
                  <a:lnTo>
                    <a:pt x="29403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705662"/>
                  </a:lnTo>
                  <a:lnTo>
                    <a:pt x="7769" y="753830"/>
                  </a:lnTo>
                  <a:lnTo>
                    <a:pt x="29403" y="795665"/>
                  </a:lnTo>
                  <a:lnTo>
                    <a:pt x="62393" y="828656"/>
                  </a:lnTo>
                  <a:lnTo>
                    <a:pt x="104228" y="850292"/>
                  </a:lnTo>
                  <a:lnTo>
                    <a:pt x="152397" y="858062"/>
                  </a:lnTo>
                  <a:lnTo>
                    <a:pt x="5848616" y="858062"/>
                  </a:lnTo>
                  <a:lnTo>
                    <a:pt x="5896783" y="850292"/>
                  </a:lnTo>
                  <a:lnTo>
                    <a:pt x="5938615" y="828656"/>
                  </a:lnTo>
                  <a:lnTo>
                    <a:pt x="5971602" y="795665"/>
                  </a:lnTo>
                  <a:lnTo>
                    <a:pt x="5993235" y="753830"/>
                  </a:lnTo>
                  <a:lnTo>
                    <a:pt x="6001004" y="705662"/>
                  </a:lnTo>
                  <a:lnTo>
                    <a:pt x="6001004" y="152400"/>
                  </a:lnTo>
                  <a:lnTo>
                    <a:pt x="5993235" y="104231"/>
                  </a:lnTo>
                  <a:lnTo>
                    <a:pt x="5971602" y="62396"/>
                  </a:lnTo>
                  <a:lnTo>
                    <a:pt x="5938615" y="29405"/>
                  </a:lnTo>
                  <a:lnTo>
                    <a:pt x="5896783" y="7769"/>
                  </a:lnTo>
                  <a:lnTo>
                    <a:pt x="5848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72249" y="4242980"/>
              <a:ext cx="6001385" cy="858519"/>
            </a:xfrm>
            <a:custGeom>
              <a:avLst/>
              <a:gdLst/>
              <a:ahLst/>
              <a:cxnLst/>
              <a:rect l="l" t="t" r="r" b="b"/>
              <a:pathLst>
                <a:path w="6001385" h="858520">
                  <a:moveTo>
                    <a:pt x="152398" y="0"/>
                  </a:moveTo>
                  <a:lnTo>
                    <a:pt x="5848616" y="0"/>
                  </a:lnTo>
                  <a:lnTo>
                    <a:pt x="5896783" y="7769"/>
                  </a:lnTo>
                  <a:lnTo>
                    <a:pt x="5938615" y="29404"/>
                  </a:lnTo>
                  <a:lnTo>
                    <a:pt x="5971602" y="62393"/>
                  </a:lnTo>
                  <a:lnTo>
                    <a:pt x="5993235" y="104228"/>
                  </a:lnTo>
                  <a:lnTo>
                    <a:pt x="6001004" y="152398"/>
                  </a:lnTo>
                  <a:lnTo>
                    <a:pt x="6001004" y="705652"/>
                  </a:lnTo>
                  <a:lnTo>
                    <a:pt x="5993235" y="753822"/>
                  </a:lnTo>
                  <a:lnTo>
                    <a:pt x="5971602" y="795657"/>
                  </a:lnTo>
                  <a:lnTo>
                    <a:pt x="5938615" y="828647"/>
                  </a:lnTo>
                  <a:lnTo>
                    <a:pt x="5896783" y="850281"/>
                  </a:lnTo>
                  <a:lnTo>
                    <a:pt x="5848616" y="858051"/>
                  </a:lnTo>
                  <a:lnTo>
                    <a:pt x="152398" y="858051"/>
                  </a:lnTo>
                  <a:lnTo>
                    <a:pt x="104228" y="850281"/>
                  </a:lnTo>
                  <a:lnTo>
                    <a:pt x="62393" y="828647"/>
                  </a:lnTo>
                  <a:lnTo>
                    <a:pt x="29404" y="795657"/>
                  </a:lnTo>
                  <a:lnTo>
                    <a:pt x="7769" y="753822"/>
                  </a:lnTo>
                  <a:lnTo>
                    <a:pt x="0" y="705652"/>
                  </a:lnTo>
                  <a:lnTo>
                    <a:pt x="0" y="152398"/>
                  </a:lnTo>
                  <a:lnTo>
                    <a:pt x="7769" y="104228"/>
                  </a:lnTo>
                  <a:lnTo>
                    <a:pt x="29404" y="62393"/>
                  </a:lnTo>
                  <a:lnTo>
                    <a:pt x="62393" y="29404"/>
                  </a:lnTo>
                  <a:lnTo>
                    <a:pt x="104228" y="7769"/>
                  </a:lnTo>
                  <a:lnTo>
                    <a:pt x="152398" y="0"/>
                  </a:lnTo>
                  <a:close/>
                </a:path>
              </a:pathLst>
            </a:custGeom>
            <a:ln w="19050">
              <a:solidFill>
                <a:srgbClr val="0F17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2165" y="2000250"/>
            <a:ext cx="4903584" cy="36195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0740" y="2028825"/>
            <a:ext cx="2381250" cy="2000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6032" y="2766060"/>
            <a:ext cx="266700" cy="219075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72893" y="3219386"/>
            <a:ext cx="6000115" cy="19050"/>
          </a:xfrm>
          <a:custGeom>
            <a:avLst/>
            <a:gdLst/>
            <a:ahLst/>
            <a:cxnLst/>
            <a:rect l="l" t="t" r="r" b="b"/>
            <a:pathLst>
              <a:path w="6000115" h="19050">
                <a:moveTo>
                  <a:pt x="5999721" y="0"/>
                </a:moveTo>
                <a:lnTo>
                  <a:pt x="0" y="0"/>
                </a:lnTo>
                <a:lnTo>
                  <a:pt x="0" y="19050"/>
                </a:lnTo>
                <a:lnTo>
                  <a:pt x="5999721" y="19050"/>
                </a:lnTo>
                <a:lnTo>
                  <a:pt x="5999721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4607" y="3633787"/>
            <a:ext cx="209550" cy="21907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70988" y="4163745"/>
            <a:ext cx="6003925" cy="19050"/>
          </a:xfrm>
          <a:custGeom>
            <a:avLst/>
            <a:gdLst/>
            <a:ahLst/>
            <a:cxnLst/>
            <a:rect l="l" t="t" r="r" b="b"/>
            <a:pathLst>
              <a:path w="6003925" h="19050">
                <a:moveTo>
                  <a:pt x="6003531" y="0"/>
                </a:moveTo>
                <a:lnTo>
                  <a:pt x="0" y="0"/>
                </a:lnTo>
                <a:lnTo>
                  <a:pt x="0" y="19049"/>
                </a:lnTo>
                <a:lnTo>
                  <a:pt x="6003531" y="19049"/>
                </a:lnTo>
                <a:lnTo>
                  <a:pt x="6003531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4607" y="4530242"/>
            <a:ext cx="209550" cy="21907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031994" y="2622600"/>
            <a:ext cx="5160645" cy="2247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10" marR="78740">
              <a:lnSpc>
                <a:spcPct val="100000"/>
              </a:lnSpc>
              <a:spcBef>
                <a:spcPts val="100"/>
              </a:spcBef>
            </a:pPr>
            <a:r>
              <a:rPr dirty="0" sz="1500" spc="-35" b="1">
                <a:solidFill>
                  <a:srgbClr val="0F172A"/>
                </a:solidFill>
                <a:latin typeface="Arial"/>
                <a:cs typeface="Arial"/>
              </a:rPr>
              <a:t>AI</a:t>
            </a:r>
            <a:r>
              <a:rPr dirty="0" sz="1500" spc="2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125" b="1">
                <a:solidFill>
                  <a:srgbClr val="0F172A"/>
                </a:solidFill>
                <a:latin typeface="Arial"/>
                <a:cs typeface="Arial"/>
              </a:rPr>
              <a:t>Spending</a:t>
            </a:r>
            <a:r>
              <a:rPr dirty="0" sz="1500" spc="8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F172A"/>
                </a:solidFill>
                <a:latin typeface="Arial"/>
                <a:cs typeface="Arial"/>
              </a:rPr>
              <a:t>:</a:t>
            </a:r>
            <a:r>
              <a:rPr dirty="0" sz="1500" spc="7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90">
                <a:solidFill>
                  <a:srgbClr val="334155"/>
                </a:solidFill>
                <a:latin typeface="Calibri"/>
                <a:cs typeface="Calibri"/>
              </a:rPr>
              <a:t>Smart</a:t>
            </a:r>
            <a:r>
              <a:rPr dirty="0" sz="15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algorithms</a:t>
            </a:r>
            <a:r>
              <a:rPr dirty="0" sz="15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334155"/>
                </a:solidFill>
                <a:latin typeface="Calibri"/>
                <a:cs typeface="Calibri"/>
              </a:rPr>
              <a:t>suggesting</a:t>
            </a:r>
            <a:r>
              <a:rPr dirty="0" sz="15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monthly</a:t>
            </a:r>
            <a:r>
              <a:rPr dirty="0" sz="1500" spc="33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334155"/>
                </a:solidFill>
                <a:latin typeface="Calibri"/>
                <a:cs typeface="Calibri"/>
              </a:rPr>
              <a:t>savings </a:t>
            </a:r>
            <a:r>
              <a:rPr dirty="0" sz="1500" spc="-10">
                <a:solidFill>
                  <a:srgbClr val="334155"/>
                </a:solidFill>
                <a:latin typeface="Calibri"/>
                <a:cs typeface="Calibri"/>
              </a:rPr>
              <a:t>tips.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500" spc="-210" b="1">
                <a:solidFill>
                  <a:srgbClr val="0F172A"/>
                </a:solidFill>
                <a:latin typeface="Arial"/>
                <a:cs typeface="Arial"/>
              </a:rPr>
              <a:t>OCR</a:t>
            </a:r>
            <a:r>
              <a:rPr dirty="0" sz="1500" spc="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0F172A"/>
                </a:solidFill>
                <a:latin typeface="Arial"/>
                <a:cs typeface="Arial"/>
              </a:rPr>
              <a:t>Receipt</a:t>
            </a:r>
            <a:r>
              <a:rPr dirty="0" sz="1500" spc="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95" b="1">
                <a:solidFill>
                  <a:srgbClr val="0F172A"/>
                </a:solidFill>
                <a:latin typeface="Arial"/>
                <a:cs typeface="Arial"/>
              </a:rPr>
              <a:t>Scanner:</a:t>
            </a:r>
            <a:r>
              <a:rPr dirty="0" sz="1500" spc="-8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70">
                <a:solidFill>
                  <a:srgbClr val="334155"/>
                </a:solidFill>
                <a:latin typeface="Calibri"/>
                <a:cs typeface="Calibri"/>
              </a:rPr>
              <a:t>Scan</a:t>
            </a:r>
            <a:r>
              <a:rPr dirty="0" sz="1500" spc="30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334155"/>
                </a:solidFill>
                <a:latin typeface="Calibri"/>
                <a:cs typeface="Calibri"/>
              </a:rPr>
              <a:t>paper</a:t>
            </a:r>
            <a:r>
              <a:rPr dirty="0" sz="1500" spc="30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55">
                <a:solidFill>
                  <a:srgbClr val="334155"/>
                </a:solidFill>
                <a:latin typeface="Calibri"/>
                <a:cs typeface="Calibri"/>
              </a:rPr>
              <a:t>bills</a:t>
            </a:r>
            <a:r>
              <a:rPr dirty="0" sz="1500" spc="30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with</a:t>
            </a:r>
            <a:r>
              <a:rPr dirty="0" sz="1500" spc="30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334155"/>
                </a:solidFill>
                <a:latin typeface="Calibri"/>
                <a:cs typeface="Calibri"/>
              </a:rPr>
              <a:t>your</a:t>
            </a:r>
            <a:r>
              <a:rPr dirty="0" sz="1500" spc="30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camera</a:t>
            </a:r>
            <a:r>
              <a:rPr dirty="0" sz="1500" spc="31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50">
                <a:solidFill>
                  <a:srgbClr val="334155"/>
                </a:solidFill>
                <a:latin typeface="Calibri"/>
                <a:cs typeface="Calibri"/>
              </a:rPr>
              <a:t>for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instant</a:t>
            </a:r>
            <a:r>
              <a:rPr dirty="0" sz="1500" spc="45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35">
                <a:solidFill>
                  <a:srgbClr val="334155"/>
                </a:solidFill>
                <a:latin typeface="Calibri"/>
                <a:cs typeface="Calibri"/>
              </a:rPr>
              <a:t>logging.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500">
              <a:latin typeface="Calibri"/>
              <a:cs typeface="Calibri"/>
            </a:endParaRPr>
          </a:p>
          <a:p>
            <a:pPr marL="13335" marR="815975">
              <a:lnSpc>
                <a:spcPct val="100000"/>
              </a:lnSpc>
            </a:pPr>
            <a:r>
              <a:rPr dirty="0" sz="1500" spc="-65" b="1">
                <a:solidFill>
                  <a:srgbClr val="0F172A"/>
                </a:solidFill>
                <a:latin typeface="Arial"/>
                <a:cs typeface="Arial"/>
              </a:rPr>
              <a:t>Auto</a:t>
            </a:r>
            <a:r>
              <a:rPr dirty="0" sz="1500" spc="-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120" b="1">
                <a:solidFill>
                  <a:srgbClr val="0F172A"/>
                </a:solidFill>
                <a:latin typeface="Arial"/>
                <a:cs typeface="Arial"/>
              </a:rPr>
              <a:t>Bank</a:t>
            </a:r>
            <a:r>
              <a:rPr dirty="0" sz="1500" spc="-5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0F172A"/>
                </a:solidFill>
                <a:latin typeface="Arial"/>
                <a:cs typeface="Arial"/>
              </a:rPr>
              <a:t>Sync</a:t>
            </a:r>
            <a:r>
              <a:rPr dirty="0" sz="1200" spc="-85" b="1">
                <a:solidFill>
                  <a:srgbClr val="0F172A"/>
                </a:solidFill>
                <a:latin typeface="Arial"/>
                <a:cs typeface="Arial"/>
              </a:rPr>
              <a:t>:</a:t>
            </a:r>
            <a:r>
              <a:rPr dirty="0" sz="1200" spc="40" b="1">
                <a:solidFill>
                  <a:srgbClr val="0F172A"/>
                </a:solidFill>
                <a:latin typeface="Arial"/>
                <a:cs typeface="Arial"/>
              </a:rPr>
              <a:t> </a:t>
            </a:r>
            <a:r>
              <a:rPr dirty="0" sz="1500" spc="80">
                <a:solidFill>
                  <a:srgbClr val="334155"/>
                </a:solidFill>
                <a:latin typeface="Calibri"/>
                <a:cs typeface="Calibri"/>
              </a:rPr>
              <a:t>Secure</a:t>
            </a:r>
            <a:r>
              <a:rPr dirty="0" sz="1500" spc="28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banking</a:t>
            </a:r>
            <a:r>
              <a:rPr dirty="0" sz="1500" spc="18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140">
                <a:solidFill>
                  <a:srgbClr val="334155"/>
                </a:solidFill>
                <a:latin typeface="Calibri"/>
                <a:cs typeface="Calibri"/>
              </a:rPr>
              <a:t>APIs</a:t>
            </a:r>
            <a:r>
              <a:rPr dirty="0" sz="1500" spc="29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dirty="0" sz="1500" spc="29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60">
                <a:solidFill>
                  <a:srgbClr val="334155"/>
                </a:solidFill>
                <a:latin typeface="Calibri"/>
                <a:cs typeface="Calibri"/>
              </a:rPr>
              <a:t>sync</a:t>
            </a:r>
            <a:r>
              <a:rPr dirty="0" sz="1500" spc="295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30">
                <a:solidFill>
                  <a:srgbClr val="334155"/>
                </a:solidFill>
                <a:latin typeface="Calibri"/>
                <a:cs typeface="Calibri"/>
              </a:rPr>
              <a:t>card </a:t>
            </a:r>
            <a:r>
              <a:rPr dirty="0" sz="1500" spc="55">
                <a:solidFill>
                  <a:srgbClr val="334155"/>
                </a:solidFill>
                <a:latin typeface="Calibri"/>
                <a:cs typeface="Calibri"/>
              </a:rPr>
              <a:t>purchases</a:t>
            </a:r>
            <a:r>
              <a:rPr dirty="0" sz="1500" spc="26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334155"/>
                </a:solidFill>
                <a:latin typeface="Calibri"/>
                <a:cs typeface="Calibri"/>
              </a:rPr>
              <a:t>automatically.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2249" y="5081994"/>
            <a:ext cx="6001385" cy="19050"/>
          </a:xfrm>
          <a:custGeom>
            <a:avLst/>
            <a:gdLst/>
            <a:ahLst/>
            <a:cxnLst/>
            <a:rect l="l" t="t" r="r" b="b"/>
            <a:pathLst>
              <a:path w="6001385" h="19050">
                <a:moveTo>
                  <a:pt x="6001004" y="0"/>
                </a:moveTo>
                <a:lnTo>
                  <a:pt x="0" y="0"/>
                </a:lnTo>
                <a:lnTo>
                  <a:pt x="0" y="19049"/>
                </a:lnTo>
                <a:lnTo>
                  <a:pt x="6001004" y="19049"/>
                </a:lnTo>
                <a:lnTo>
                  <a:pt x="6001004" y="0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08800" y="2041347"/>
            <a:ext cx="4711700" cy="353060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968832" y="5671816"/>
            <a:ext cx="83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Expense Tracker</dc:title>
  <dcterms:created xsi:type="dcterms:W3CDTF">2026-08-04T17:21:24Z</dcterms:created>
  <dcterms:modified xsi:type="dcterms:W3CDTF">2026-08-04T17:21:24Z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2026-08-04T00:00:00Z</vt:filetime>
  </property>
  <property fmtid="{D5CDD505-2E9C-101B-9397-08002B2CF9AE}" pid="4" name="Creator">
    <vt:lpwstr>Keynote</vt:lpwstr>
  </property>
  <property fmtid="{D5CDD505-2E9C-101B-9397-08002B2CF9AE}" pid="5" name="LastSaved">
    <vt:filetime>2026-08-04T00:00:00Z</vt:filetime>
  </property>
  <property fmtid="{D5CDD505-2E9C-101B-9397-08002B2CF9AE}" pid="6" name="Producer">
    <vt:lpwstr>3-Heights(TM) PDF Security Shell 4.8.25.2 (http://www.pdf-tools.com)</vt:lpwstr>
  </property>
</Properties>
</file>